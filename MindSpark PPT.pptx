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Default Extension="svg" ContentType="image/svg+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Calibri" pitchFamily="34" charset="0"/>
      <p:regular r:id="rId13"/>
      <p:bold r:id="rId14"/>
      <p:italic r:id="rId15"/>
      <p:boldItalic r:id="rId16"/>
    </p:embeddedFont>
    <p:embeddedFont>
      <p:font typeface="Calibri (MS)" charset="0"/>
      <p:regular r:id="rId17"/>
    </p:embeddedFont>
    <p:embeddedFont>
      <p:font typeface="Calibri (MS) Bold" charset="0"/>
      <p:bold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autoAdjust="0"/>
    <p:restoredTop sz="94622" autoAdjust="0"/>
  </p:normalViewPr>
  <p:slideViewPr>
    <p:cSldViewPr showGuides="1">
      <p:cViewPr varScale="1">
        <p:scale>
          <a:sx n="45" d="100"/>
          <a:sy n="45" d="100"/>
        </p:scale>
        <p:origin x="-816"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shita Chandola" userId="3241d6ed0d8cc565" providerId="LiveId" clId="{52A5E9CE-C969-4A81-9881-C3C718B35AA4}"/>
    <pc:docChg chg="modSld">
      <pc:chgData name="Harshita Chandola" userId="3241d6ed0d8cc565" providerId="LiveId" clId="{52A5E9CE-C969-4A81-9881-C3C718B35AA4}" dt="2026-01-24T23:22:36.378" v="1" actId="207"/>
      <pc:docMkLst>
        <pc:docMk/>
      </pc:docMkLst>
      <pc:sldChg chg="modSp mod">
        <pc:chgData name="Harshita Chandola" userId="3241d6ed0d8cc565" providerId="LiveId" clId="{52A5E9CE-C969-4A81-9881-C3C718B35AA4}" dt="2026-01-24T23:22:36.378" v="1" actId="207"/>
        <pc:sldMkLst>
          <pc:docMk/>
          <pc:sldMk cId="0" sldId="256"/>
        </pc:sldMkLst>
        <pc:spChg chg="mod">
          <ac:chgData name="Harshita Chandola" userId="3241d6ed0d8cc565" providerId="LiveId" clId="{52A5E9CE-C969-4A81-9881-C3C718B35AA4}" dt="2026-01-24T23:22:36.378" v="1" actId="207"/>
          <ac:spMkLst>
            <pc:docMk/>
            <pc:sldMk cId="0" sldId="256"/>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11" Type="http://schemas.openxmlformats.org/officeDocument/2006/relationships/image" Target="../media/image10.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4.png"/><Relationship Id="rId7"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5.png"/><Relationship Id="rId9" Type="http://schemas.openxmlformats.org/officeDocument/2006/relationships/image" Target="../media/image6.sv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0.svg"/><Relationship Id="rId7"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429000" y="4644430"/>
            <a:ext cx="13885276" cy="5642570"/>
          </a:xfrm>
          <a:prstGeom prst="rect">
            <a:avLst/>
          </a:prstGeom>
        </p:spPr>
        <p:txBody>
          <a:bodyPr wrap="square" lIns="0" tIns="0" rIns="0" bIns="0" rtlCol="0" anchor="t">
            <a:spAutoFit/>
          </a:bodyPr>
          <a:lstStyle/>
          <a:p>
            <a:pPr algn="l">
              <a:lnSpc>
                <a:spcPts val="3960"/>
              </a:lnSpc>
            </a:pPr>
            <a:endParaRPr dirty="0"/>
          </a:p>
          <a:p>
            <a:pPr algn="l">
              <a:lnSpc>
                <a:spcPts val="3960"/>
              </a:lnSpc>
            </a:pPr>
            <a:r>
              <a:rPr lang="en-US" sz="3300" dirty="0">
                <a:latin typeface="Times New Roman" panose="02020603050405020304" pitchFamily="18" charset="0"/>
                <a:ea typeface="Calibri (MS)" panose="020F0502020204030204"/>
                <a:cs typeface="Times New Roman" panose="02020603050405020304" pitchFamily="18" charset="0"/>
                <a:sym typeface="Calibri (MS)" panose="020F0502020204030204"/>
              </a:rPr>
              <a:t>Team Name : </a:t>
            </a:r>
            <a:r>
              <a:rPr lang="en-IN" altLang="en-US" sz="3300" dirty="0" err="1">
                <a:latin typeface="Times New Roman" panose="02020603050405020304" pitchFamily="18" charset="0"/>
                <a:ea typeface="Calibri (MS)" panose="020F0502020204030204"/>
                <a:cs typeface="Times New Roman" panose="02020603050405020304" pitchFamily="18" charset="0"/>
                <a:sym typeface="Calibri (MS)" panose="020F0502020204030204"/>
              </a:rPr>
              <a:t>MindSpark</a:t>
            </a:r>
            <a:endParaRPr lang="en-US" sz="3300" dirty="0">
              <a:latin typeface="Times New Roman" panose="02020603050405020304" pitchFamily="18" charset="0"/>
              <a:ea typeface="Calibri (MS)" panose="020F0502020204030204"/>
              <a:cs typeface="Times New Roman" panose="02020603050405020304" pitchFamily="18" charset="0"/>
              <a:sym typeface="Calibri (MS)" panose="020F0502020204030204"/>
            </a:endParaRPr>
          </a:p>
          <a:p>
            <a:pPr algn="l">
              <a:lnSpc>
                <a:spcPts val="3960"/>
              </a:lnSpc>
            </a:pPr>
            <a:r>
              <a:rPr lang="en-US" sz="3300" dirty="0">
                <a:latin typeface="Times New Roman" panose="02020603050405020304" pitchFamily="18" charset="0"/>
                <a:ea typeface="Calibri (MS)" panose="020F0502020204030204"/>
                <a:cs typeface="Times New Roman" panose="02020603050405020304" pitchFamily="18" charset="0"/>
                <a:sym typeface="Calibri (MS)" panose="020F0502020204030204"/>
              </a:rPr>
              <a:t>Team Members</a:t>
            </a:r>
            <a:r>
              <a:rPr lang="en-US" sz="3300" dirty="0" smtClean="0">
                <a:latin typeface="Times New Roman" panose="02020603050405020304" pitchFamily="18" charset="0"/>
                <a:ea typeface="Calibri (MS)" panose="020F0502020204030204"/>
                <a:cs typeface="Times New Roman" panose="02020603050405020304" pitchFamily="18" charset="0"/>
                <a:sym typeface="Calibri (MS)" panose="020F0502020204030204"/>
              </a:rPr>
              <a:t>: </a:t>
            </a:r>
            <a:r>
              <a:rPr lang="en-IN" altLang="en-US" sz="3300" dirty="0" err="1" smtClean="0">
                <a:latin typeface="Times New Roman" panose="02020603050405020304" pitchFamily="18" charset="0"/>
                <a:ea typeface="Calibri (MS)" panose="020F0502020204030204"/>
                <a:cs typeface="Times New Roman" panose="02020603050405020304" pitchFamily="18" charset="0"/>
                <a:sym typeface="Calibri (MS)" panose="020F0502020204030204"/>
              </a:rPr>
              <a:t>Harshita</a:t>
            </a:r>
            <a:r>
              <a:rPr lang="en-IN" altLang="en-US" sz="3300" dirty="0" smtClean="0">
                <a:latin typeface="Times New Roman" panose="02020603050405020304" pitchFamily="18" charset="0"/>
                <a:ea typeface="Calibri (MS)" panose="020F0502020204030204"/>
                <a:cs typeface="Times New Roman" panose="02020603050405020304" pitchFamily="18" charset="0"/>
                <a:sym typeface="Calibri (MS)" panose="020F0502020204030204"/>
              </a:rPr>
              <a:t> </a:t>
            </a:r>
            <a:r>
              <a:rPr lang="en-IN" altLang="en-US" sz="3300" dirty="0">
                <a:latin typeface="Times New Roman" panose="02020603050405020304" pitchFamily="18" charset="0"/>
                <a:ea typeface="Calibri (MS)" panose="020F0502020204030204"/>
                <a:cs typeface="Times New Roman" panose="02020603050405020304" pitchFamily="18" charset="0"/>
                <a:sym typeface="Calibri (MS)" panose="020F0502020204030204"/>
              </a:rPr>
              <a:t>Chandola, </a:t>
            </a:r>
            <a:endParaRPr lang="en-IN" altLang="en-US" sz="3300" dirty="0" smtClean="0">
              <a:latin typeface="Times New Roman" panose="02020603050405020304" pitchFamily="18" charset="0"/>
              <a:ea typeface="Calibri (MS)" panose="020F0502020204030204"/>
              <a:cs typeface="Times New Roman" panose="02020603050405020304" pitchFamily="18" charset="0"/>
              <a:sym typeface="Calibri (MS)" panose="020F0502020204030204"/>
            </a:endParaRPr>
          </a:p>
          <a:p>
            <a:pPr algn="l">
              <a:lnSpc>
                <a:spcPts val="3960"/>
              </a:lnSpc>
            </a:pPr>
            <a:r>
              <a:rPr lang="en-IN" altLang="en-US" sz="3300" dirty="0" err="1" smtClean="0">
                <a:latin typeface="Times New Roman" panose="02020603050405020304" pitchFamily="18" charset="0"/>
                <a:ea typeface="Calibri (MS)" panose="020F0502020204030204"/>
                <a:cs typeface="Times New Roman" panose="02020603050405020304" pitchFamily="18" charset="0"/>
                <a:sym typeface="Calibri (MS)" panose="020F0502020204030204"/>
              </a:rPr>
              <a:t>Utkarsha</a:t>
            </a:r>
            <a:r>
              <a:rPr lang="en-IN" altLang="en-US" sz="3300" dirty="0" smtClean="0">
                <a:latin typeface="Times New Roman" panose="02020603050405020304" pitchFamily="18" charset="0"/>
                <a:ea typeface="Calibri (MS)" panose="020F0502020204030204"/>
                <a:cs typeface="Times New Roman" panose="02020603050405020304" pitchFamily="18" charset="0"/>
                <a:sym typeface="Calibri (MS)" panose="020F0502020204030204"/>
              </a:rPr>
              <a:t> </a:t>
            </a:r>
            <a:r>
              <a:rPr lang="en-IN" altLang="en-US" sz="3300" dirty="0" err="1">
                <a:latin typeface="Times New Roman" panose="02020603050405020304" pitchFamily="18" charset="0"/>
                <a:ea typeface="Calibri (MS)" panose="020F0502020204030204"/>
                <a:cs typeface="Times New Roman" panose="02020603050405020304" pitchFamily="18" charset="0"/>
                <a:sym typeface="Calibri (MS)" panose="020F0502020204030204"/>
              </a:rPr>
              <a:t>Maharnavar</a:t>
            </a:r>
            <a:r>
              <a:rPr lang="en-IN" altLang="en-US" sz="3300" dirty="0" smtClean="0">
                <a:latin typeface="Times New Roman" panose="02020603050405020304" pitchFamily="18" charset="0"/>
                <a:ea typeface="Calibri (MS)" panose="020F0502020204030204"/>
                <a:cs typeface="Times New Roman" panose="02020603050405020304" pitchFamily="18" charset="0"/>
                <a:sym typeface="Calibri (MS)" panose="020F0502020204030204"/>
              </a:rPr>
              <a:t>,</a:t>
            </a:r>
          </a:p>
          <a:p>
            <a:pPr algn="l">
              <a:lnSpc>
                <a:spcPts val="3960"/>
              </a:lnSpc>
            </a:pPr>
            <a:r>
              <a:rPr lang="en-IN" altLang="en-US" sz="3300" dirty="0" err="1" smtClean="0">
                <a:latin typeface="Times New Roman" panose="02020603050405020304" pitchFamily="18" charset="0"/>
                <a:ea typeface="Calibri (MS)" panose="020F0502020204030204"/>
                <a:cs typeface="Times New Roman" panose="02020603050405020304" pitchFamily="18" charset="0"/>
                <a:sym typeface="Calibri (MS)" panose="020F0502020204030204"/>
              </a:rPr>
              <a:t>Saniya</a:t>
            </a:r>
            <a:r>
              <a:rPr lang="en-IN" altLang="en-US" sz="3300" dirty="0" smtClean="0">
                <a:latin typeface="Times New Roman" panose="02020603050405020304" pitchFamily="18" charset="0"/>
                <a:ea typeface="Calibri (MS)" panose="020F0502020204030204"/>
                <a:cs typeface="Times New Roman" panose="02020603050405020304" pitchFamily="18" charset="0"/>
                <a:sym typeface="Calibri (MS)" panose="020F0502020204030204"/>
              </a:rPr>
              <a:t> </a:t>
            </a:r>
            <a:r>
              <a:rPr lang="en-IN" altLang="en-US" sz="3300" dirty="0">
                <a:latin typeface="Times New Roman" panose="02020603050405020304" pitchFamily="18" charset="0"/>
                <a:ea typeface="Calibri (MS)" panose="020F0502020204030204"/>
                <a:cs typeface="Times New Roman" panose="02020603050405020304" pitchFamily="18" charset="0"/>
                <a:sym typeface="Calibri (MS)" panose="020F0502020204030204"/>
              </a:rPr>
              <a:t>Pal</a:t>
            </a:r>
            <a:endParaRPr lang="en-US" sz="3300" dirty="0">
              <a:latin typeface="Times New Roman" panose="02020603050405020304" pitchFamily="18" charset="0"/>
              <a:ea typeface="Calibri (MS)" panose="020F0502020204030204"/>
              <a:cs typeface="Times New Roman" panose="02020603050405020304" pitchFamily="18" charset="0"/>
              <a:sym typeface="Calibri (MS)" panose="020F0502020204030204"/>
            </a:endParaRPr>
          </a:p>
          <a:p>
            <a:pPr algn="l">
              <a:lnSpc>
                <a:spcPts val="3960"/>
              </a:lnSpc>
            </a:pPr>
            <a:r>
              <a:rPr lang="en-US" sz="3300" dirty="0">
                <a:latin typeface="Times New Roman" panose="02020603050405020304" pitchFamily="18" charset="0"/>
                <a:ea typeface="Calibri (MS)" panose="020F0502020204030204"/>
                <a:cs typeface="Times New Roman" panose="02020603050405020304" pitchFamily="18" charset="0"/>
                <a:sym typeface="Calibri (MS)" panose="020F0502020204030204"/>
              </a:rPr>
              <a:t>Problem </a:t>
            </a:r>
            <a:r>
              <a:rPr lang="en-US" sz="3300" dirty="0" err="1">
                <a:latin typeface="Times New Roman" panose="02020603050405020304" pitchFamily="18" charset="0"/>
                <a:ea typeface="Calibri (MS)" panose="020F0502020204030204"/>
                <a:cs typeface="Times New Roman" panose="02020603050405020304" pitchFamily="18" charset="0"/>
                <a:sym typeface="Calibri (MS)" panose="020F0502020204030204"/>
              </a:rPr>
              <a:t>Statement:</a:t>
            </a:r>
            <a:r>
              <a:rPr lang="en-US" altLang="en-US" sz="3300" dirty="0" err="1">
                <a:latin typeface="Times New Roman" panose="02020603050405020304" pitchFamily="18" charset="0"/>
                <a:ea typeface="Calibri (MS)" panose="020F0502020204030204"/>
                <a:cs typeface="Times New Roman" panose="02020603050405020304" pitchFamily="18" charset="0"/>
                <a:sym typeface="Calibri (MS)" panose="020F0502020204030204"/>
              </a:rPr>
              <a:t>DATA</a:t>
            </a:r>
            <a:r>
              <a:rPr lang="en-US" altLang="en-US" sz="3300" dirty="0">
                <a:latin typeface="Times New Roman" panose="02020603050405020304" pitchFamily="18" charset="0"/>
                <a:ea typeface="Calibri (MS)" panose="020F0502020204030204"/>
                <a:cs typeface="Times New Roman" panose="02020603050405020304" pitchFamily="18" charset="0"/>
                <a:sym typeface="Calibri (MS)" panose="020F0502020204030204"/>
              </a:rPr>
              <a:t> COLLECTION AGENT</a:t>
            </a:r>
          </a:p>
          <a:p>
            <a:pPr algn="l">
              <a:lnSpc>
                <a:spcPts val="3960"/>
              </a:lnSpc>
            </a:pPr>
            <a:r>
              <a:rPr lang="en-US" altLang="en-US" sz="3300" dirty="0">
                <a:latin typeface="Times New Roman" panose="02020603050405020304" pitchFamily="18" charset="0"/>
                <a:ea typeface="Calibri (MS)" panose="020F0502020204030204"/>
                <a:cs typeface="Times New Roman" panose="02020603050405020304" pitchFamily="18" charset="0"/>
                <a:sym typeface="Calibri (MS)" panose="020F0502020204030204"/>
              </a:rPr>
              <a:t>(AUTONOMOUS RESOURCE</a:t>
            </a:r>
          </a:p>
          <a:p>
            <a:pPr algn="l">
              <a:lnSpc>
                <a:spcPts val="3960"/>
              </a:lnSpc>
            </a:pPr>
            <a:r>
              <a:rPr lang="en-US" altLang="en-US" sz="3300" dirty="0">
                <a:latin typeface="Times New Roman" panose="02020603050405020304" pitchFamily="18" charset="0"/>
                <a:ea typeface="Calibri (MS)" panose="020F0502020204030204"/>
                <a:cs typeface="Times New Roman" panose="02020603050405020304" pitchFamily="18" charset="0"/>
                <a:sym typeface="Calibri (MS)" panose="020F0502020204030204"/>
              </a:rPr>
              <a:t>MANAGER)</a:t>
            </a:r>
          </a:p>
          <a:p>
            <a:pPr algn="l">
              <a:lnSpc>
                <a:spcPts val="3960"/>
              </a:lnSpc>
            </a:pPr>
            <a:endParaRPr lang="en-US" sz="3300" dirty="0">
              <a:solidFill>
                <a:srgbClr val="595959"/>
              </a:solidFill>
              <a:latin typeface="Calibri (MS)" panose="020F0502020204030204"/>
              <a:ea typeface="Calibri (MS)" panose="020F0502020204030204"/>
              <a:cs typeface="Calibri (MS)" panose="020F0502020204030204"/>
              <a:sym typeface="Calibri (MS)" panose="020F0502020204030204"/>
            </a:endParaRPr>
          </a:p>
          <a:p>
            <a:pPr algn="l">
              <a:lnSpc>
                <a:spcPts val="3960"/>
              </a:lnSpc>
            </a:pPr>
            <a:endParaRPr lang="en-US" sz="3300" dirty="0">
              <a:solidFill>
                <a:srgbClr val="595959"/>
              </a:solidFill>
              <a:latin typeface="Calibri (MS)" panose="020F0502020204030204"/>
              <a:ea typeface="Calibri (MS)" panose="020F0502020204030204"/>
              <a:cs typeface="Calibri (MS)" panose="020F0502020204030204"/>
              <a:sym typeface="Calibri (MS)" panose="020F0502020204030204"/>
            </a:endParaRPr>
          </a:p>
          <a:p>
            <a:pPr algn="l">
              <a:lnSpc>
                <a:spcPts val="3960"/>
              </a:lnSpc>
            </a:pPr>
            <a:endParaRPr lang="en-US" sz="3300" dirty="0">
              <a:solidFill>
                <a:srgbClr val="595959"/>
              </a:solidFill>
              <a:latin typeface="Calibri (MS)" panose="020F0502020204030204"/>
              <a:ea typeface="Calibri (MS)" panose="020F0502020204030204"/>
              <a:cs typeface="Calibri (MS)" panose="020F0502020204030204"/>
              <a:sym typeface="Calibri (MS)" panose="020F0502020204030204"/>
            </a:endParaRPr>
          </a:p>
        </p:txBody>
      </p:sp>
      <p:grpSp>
        <p:nvGrpSpPr>
          <p:cNvPr id="3" name="Group 3"/>
          <p:cNvGrpSpPr/>
          <p:nvPr/>
        </p:nvGrpSpPr>
        <p:grpSpPr>
          <a:xfrm>
            <a:off x="14058900" y="9415306"/>
            <a:ext cx="3200400" cy="561938"/>
            <a:chOff x="0" y="0"/>
            <a:chExt cx="4267200" cy="749250"/>
          </a:xfrm>
        </p:grpSpPr>
        <p:sp>
          <p:nvSpPr>
            <p:cNvPr id="4" name="Freeform 4"/>
            <p:cNvSpPr/>
            <p:nvPr/>
          </p:nvSpPr>
          <p:spPr>
            <a:xfrm>
              <a:off x="0" y="0"/>
              <a:ext cx="4267200" cy="749250"/>
            </a:xfrm>
            <a:custGeom>
              <a:avLst/>
              <a:gdLst/>
              <a:ahLst/>
              <a:cxnLst/>
              <a:rect l="l" t="t" r="r" b="b"/>
              <a:pathLst>
                <a:path w="4267200" h="749250">
                  <a:moveTo>
                    <a:pt x="0" y="0"/>
                  </a:moveTo>
                  <a:lnTo>
                    <a:pt x="4267200" y="0"/>
                  </a:lnTo>
                  <a:lnTo>
                    <a:pt x="4267200" y="749250"/>
                  </a:lnTo>
                  <a:lnTo>
                    <a:pt x="0" y="749250"/>
                  </a:lnTo>
                  <a:close/>
                </a:path>
              </a:pathLst>
            </a:custGeom>
            <a:solidFill>
              <a:srgbClr val="000000">
                <a:alpha val="0"/>
              </a:srgbClr>
            </a:solidFill>
          </p:spPr>
        </p:sp>
        <p:sp>
          <p:nvSpPr>
            <p:cNvPr id="5" name="TextBox 5"/>
            <p:cNvSpPr txBox="1"/>
            <p:nvPr/>
          </p:nvSpPr>
          <p:spPr>
            <a:xfrm>
              <a:off x="0" y="-19050"/>
              <a:ext cx="4267200" cy="768300"/>
            </a:xfrm>
            <a:prstGeom prst="rect">
              <a:avLst/>
            </a:prstGeom>
          </p:spPr>
          <p:txBody>
            <a:bodyPr lIns="0" tIns="0" rIns="0" bIns="0" rtlCol="0" anchor="ctr"/>
            <a:lstStyle/>
            <a:p>
              <a:pPr algn="r">
                <a:lnSpc>
                  <a:spcPts val="1890"/>
                </a:lnSpc>
              </a:pPr>
              <a:r>
                <a:rPr lang="en-US" sz="1575">
                  <a:solidFill>
                    <a:srgbClr val="888888"/>
                  </a:solidFill>
                  <a:latin typeface="Calibri (MS)" panose="020F0502020204030204"/>
                  <a:ea typeface="Calibri (MS)" panose="020F0502020204030204"/>
                  <a:cs typeface="Calibri (MS)" panose="020F0502020204030204"/>
                  <a:sym typeface="Calibri (MS)" panose="020F0502020204030204"/>
                </a:rPr>
                <a:t>1</a:t>
              </a:r>
            </a:p>
          </p:txBody>
        </p:sp>
      </p:grpSp>
      <p:grpSp>
        <p:nvGrpSpPr>
          <p:cNvPr id="6" name="Group 6"/>
          <p:cNvGrpSpPr/>
          <p:nvPr/>
        </p:nvGrpSpPr>
        <p:grpSpPr>
          <a:xfrm>
            <a:off x="-9525" y="-38100"/>
            <a:ext cx="18335982" cy="1879438"/>
            <a:chOff x="0" y="0"/>
            <a:chExt cx="24447976" cy="2505917"/>
          </a:xfrm>
        </p:grpSpPr>
        <p:sp>
          <p:nvSpPr>
            <p:cNvPr id="7" name="Freeform 7"/>
            <p:cNvSpPr/>
            <p:nvPr/>
          </p:nvSpPr>
          <p:spPr>
            <a:xfrm>
              <a:off x="0" y="0"/>
              <a:ext cx="24448008" cy="2505964"/>
            </a:xfrm>
            <a:custGeom>
              <a:avLst/>
              <a:gdLst/>
              <a:ahLst/>
              <a:cxnLst/>
              <a:rect l="l" t="t" r="r" b="b"/>
              <a:pathLst>
                <a:path w="24448008" h="2505964">
                  <a:moveTo>
                    <a:pt x="0" y="0"/>
                  </a:moveTo>
                  <a:lnTo>
                    <a:pt x="24448008" y="0"/>
                  </a:lnTo>
                  <a:lnTo>
                    <a:pt x="24448008" y="2505964"/>
                  </a:lnTo>
                  <a:lnTo>
                    <a:pt x="0" y="2505964"/>
                  </a:lnTo>
                  <a:lnTo>
                    <a:pt x="0" y="0"/>
                  </a:lnTo>
                  <a:close/>
                </a:path>
              </a:pathLst>
            </a:custGeom>
            <a:solidFill>
              <a:srgbClr val="000000">
                <a:alpha val="0"/>
              </a:srgbClr>
            </a:solidFill>
            <a:ln w="12700">
              <a:solidFill>
                <a:srgbClr val="000000"/>
              </a:solidFill>
            </a:ln>
          </p:spPr>
        </p:sp>
      </p:grpSp>
      <p:grpSp>
        <p:nvGrpSpPr>
          <p:cNvPr id="8" name="Group 8"/>
          <p:cNvGrpSpPr/>
          <p:nvPr/>
        </p:nvGrpSpPr>
        <p:grpSpPr>
          <a:xfrm>
            <a:off x="3581400" y="2476500"/>
            <a:ext cx="14097001" cy="2423740"/>
            <a:chOff x="0" y="-247650"/>
            <a:chExt cx="14955293" cy="3231652"/>
          </a:xfrm>
        </p:grpSpPr>
        <p:sp>
          <p:nvSpPr>
            <p:cNvPr id="9" name="Freeform 9"/>
            <p:cNvSpPr/>
            <p:nvPr/>
          </p:nvSpPr>
          <p:spPr>
            <a:xfrm>
              <a:off x="586087" y="767415"/>
              <a:ext cx="1393800" cy="1393800"/>
            </a:xfrm>
            <a:custGeom>
              <a:avLst/>
              <a:gdLst/>
              <a:ahLst/>
              <a:cxnLst/>
              <a:rect l="l" t="t" r="r" b="b"/>
              <a:pathLst>
                <a:path w="1393800" h="1393800">
                  <a:moveTo>
                    <a:pt x="0" y="0"/>
                  </a:moveTo>
                  <a:lnTo>
                    <a:pt x="1393800" y="0"/>
                  </a:lnTo>
                  <a:lnTo>
                    <a:pt x="1393800" y="1393800"/>
                  </a:lnTo>
                  <a:lnTo>
                    <a:pt x="0" y="1393800"/>
                  </a:lnTo>
                  <a:lnTo>
                    <a:pt x="0" y="0"/>
                  </a:lnTo>
                  <a:close/>
                </a:path>
              </a:pathLst>
            </a:custGeom>
            <a:blipFill>
              <a:blip r:embed="rId2" cstate="print">
                <a:extLst>
                  <a:ext uri="{96DAC541-7B7A-43D3-8B79-37D633B846F1}">
                    <asvg:svgBlip xmlns:asvg="http://schemas.microsoft.com/office/drawing/2016/SVG/main" xmlns="" r:embed="rId3"/>
                  </a:ext>
                </a:extLst>
              </a:blip>
              <a:stretch>
                <a:fillRect/>
              </a:stretch>
            </a:blipFill>
          </p:spPr>
        </p:sp>
        <p:sp>
          <p:nvSpPr>
            <p:cNvPr id="10" name="TextBox 10"/>
            <p:cNvSpPr txBox="1"/>
            <p:nvPr/>
          </p:nvSpPr>
          <p:spPr>
            <a:xfrm>
              <a:off x="3495943" y="-232355"/>
              <a:ext cx="7752605" cy="3031770"/>
            </a:xfrm>
            <a:prstGeom prst="rect">
              <a:avLst/>
            </a:prstGeom>
          </p:spPr>
          <p:txBody>
            <a:bodyPr wrap="square" lIns="0" tIns="0" rIns="0" bIns="0" rtlCol="0" anchor="t">
              <a:spAutoFit/>
            </a:bodyPr>
            <a:lstStyle/>
            <a:p>
              <a:pPr algn="l">
                <a:lnSpc>
                  <a:spcPts val="18855"/>
                </a:lnSpc>
              </a:pPr>
              <a:endParaRPr lang="en-US" sz="13470" b="1" dirty="0">
                <a:solidFill>
                  <a:srgbClr val="000000"/>
                </a:solidFill>
                <a:latin typeface="Garet Bold"/>
                <a:ea typeface="Garet Bold"/>
                <a:cs typeface="Garet Bold"/>
                <a:sym typeface="Garet Bold"/>
              </a:endParaRPr>
            </a:p>
          </p:txBody>
        </p:sp>
        <p:sp>
          <p:nvSpPr>
            <p:cNvPr id="11" name="TextBox 11"/>
            <p:cNvSpPr txBox="1"/>
            <p:nvPr/>
          </p:nvSpPr>
          <p:spPr>
            <a:xfrm>
              <a:off x="2182665" y="-247650"/>
              <a:ext cx="12772628" cy="3231652"/>
            </a:xfrm>
            <a:prstGeom prst="rect">
              <a:avLst/>
            </a:prstGeom>
          </p:spPr>
          <p:txBody>
            <a:bodyPr wrap="square" lIns="0" tIns="0" rIns="0" bIns="0" rtlCol="0" anchor="t">
              <a:spAutoFit/>
            </a:bodyPr>
            <a:lstStyle/>
            <a:p>
              <a:pPr algn="l">
                <a:lnSpc>
                  <a:spcPts val="18855"/>
                </a:lnSpc>
              </a:pPr>
              <a:r>
                <a:rPr lang="en-US" sz="13470" b="1" dirty="0" smtClean="0">
                  <a:solidFill>
                    <a:srgbClr val="000000"/>
                  </a:solidFill>
                  <a:latin typeface="Garet Bold"/>
                  <a:ea typeface="Garet Bold"/>
                  <a:cs typeface="Garet Bold"/>
                  <a:sym typeface="Garet Bold"/>
                </a:rPr>
                <a:t>Echelon2.0</a:t>
              </a:r>
              <a:endParaRPr lang="en-US" sz="13470" b="1" dirty="0">
                <a:solidFill>
                  <a:srgbClr val="000000"/>
                </a:solidFill>
                <a:latin typeface="Garet Bold"/>
                <a:ea typeface="Garet Bold"/>
                <a:cs typeface="Garet Bold"/>
                <a:sym typeface="Garet Bold"/>
              </a:endParaRPr>
            </a:p>
          </p:txBody>
        </p:sp>
        <p:sp>
          <p:nvSpPr>
            <p:cNvPr id="16" name="Freeform 16"/>
            <p:cNvSpPr/>
            <p:nvPr/>
          </p:nvSpPr>
          <p:spPr>
            <a:xfrm>
              <a:off x="0" y="392812"/>
              <a:ext cx="1700412" cy="1775888"/>
            </a:xfrm>
            <a:custGeom>
              <a:avLst/>
              <a:gdLst/>
              <a:ahLst/>
              <a:cxnLst/>
              <a:rect l="l" t="t" r="r" b="b"/>
              <a:pathLst>
                <a:path w="1700412" h="1775888">
                  <a:moveTo>
                    <a:pt x="0" y="0"/>
                  </a:moveTo>
                  <a:lnTo>
                    <a:pt x="1700412" y="0"/>
                  </a:lnTo>
                  <a:lnTo>
                    <a:pt x="1700412" y="1775888"/>
                  </a:lnTo>
                  <a:lnTo>
                    <a:pt x="0" y="1775888"/>
                  </a:lnTo>
                  <a:lnTo>
                    <a:pt x="0" y="0"/>
                  </a:lnTo>
                  <a:close/>
                </a:path>
              </a:pathLst>
            </a:custGeom>
            <a:blipFill>
              <a:blip r:embed="rId4" cstate="print">
                <a:extLst>
                  <a:ext uri="{96DAC541-7B7A-43D3-8B79-37D633B846F1}">
                    <asvg:svgBlip xmlns:asvg="http://schemas.microsoft.com/office/drawing/2016/SVG/main" xmlns="" r:embed="rId7"/>
                  </a:ext>
                </a:extLst>
              </a:blip>
              <a:stretch>
                <a:fillRect/>
              </a:stretch>
            </a:blipFill>
          </p:spPr>
        </p:sp>
      </p:grpSp>
      <p:sp>
        <p:nvSpPr>
          <p:cNvPr id="17" name="Freeform 17"/>
          <p:cNvSpPr/>
          <p:nvPr/>
        </p:nvSpPr>
        <p:spPr>
          <a:xfrm>
            <a:off x="-76962" y="-38100"/>
            <a:ext cx="18488728" cy="1868426"/>
          </a:xfrm>
          <a:custGeom>
            <a:avLst/>
            <a:gdLst/>
            <a:ahLst/>
            <a:cxnLst/>
            <a:rect l="l" t="t" r="r" b="b"/>
            <a:pathLst>
              <a:path w="18488728" h="1868426">
                <a:moveTo>
                  <a:pt x="0" y="0"/>
                </a:moveTo>
                <a:lnTo>
                  <a:pt x="18488728" y="0"/>
                </a:lnTo>
                <a:lnTo>
                  <a:pt x="18488728" y="1868426"/>
                </a:lnTo>
                <a:lnTo>
                  <a:pt x="0" y="1868426"/>
                </a:lnTo>
                <a:lnTo>
                  <a:pt x="0" y="0"/>
                </a:lnTo>
                <a:close/>
              </a:path>
            </a:pathLst>
          </a:custGeom>
          <a:blipFill>
            <a:blip r:embed="rId8"/>
            <a:stretch>
              <a:fillRect t="-442" b="-442"/>
            </a:stretch>
          </a:blipFill>
        </p:spPr>
      </p:sp>
      <p:sp>
        <p:nvSpPr>
          <p:cNvPr id="18" name="Freeform 18"/>
          <p:cNvSpPr/>
          <p:nvPr/>
        </p:nvSpPr>
        <p:spPr>
          <a:xfrm>
            <a:off x="15439606" y="-38100"/>
            <a:ext cx="2972160" cy="1966385"/>
          </a:xfrm>
          <a:custGeom>
            <a:avLst/>
            <a:gdLst/>
            <a:ahLst/>
            <a:cxnLst/>
            <a:rect l="l" t="t" r="r" b="b"/>
            <a:pathLst>
              <a:path w="2972160" h="1966385">
                <a:moveTo>
                  <a:pt x="0" y="0"/>
                </a:moveTo>
                <a:lnTo>
                  <a:pt x="2972160" y="0"/>
                </a:lnTo>
                <a:lnTo>
                  <a:pt x="2972160" y="1966385"/>
                </a:lnTo>
                <a:lnTo>
                  <a:pt x="0" y="1966385"/>
                </a:lnTo>
                <a:lnTo>
                  <a:pt x="0" y="0"/>
                </a:lnTo>
                <a:close/>
              </a:path>
            </a:pathLst>
          </a:custGeom>
          <a:blipFill>
            <a:blip r:embed="rId9"/>
            <a:stretch>
              <a:fillRect t="-442" b="-442"/>
            </a:stretch>
          </a:blipFill>
        </p:spPr>
      </p:sp>
      <p:sp>
        <p:nvSpPr>
          <p:cNvPr id="19" name="Freeform 19"/>
          <p:cNvSpPr/>
          <p:nvPr/>
        </p:nvSpPr>
        <p:spPr>
          <a:xfrm>
            <a:off x="-9525" y="10149893"/>
            <a:ext cx="18336006" cy="146589"/>
          </a:xfrm>
          <a:custGeom>
            <a:avLst/>
            <a:gdLst/>
            <a:ahLst/>
            <a:cxnLst/>
            <a:rect l="l" t="t" r="r" b="b"/>
            <a:pathLst>
              <a:path w="18336006" h="146589">
                <a:moveTo>
                  <a:pt x="0" y="0"/>
                </a:moveTo>
                <a:lnTo>
                  <a:pt x="18336006" y="0"/>
                </a:lnTo>
                <a:lnTo>
                  <a:pt x="18336006" y="146589"/>
                </a:lnTo>
                <a:lnTo>
                  <a:pt x="0" y="146589"/>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sp>
      <p:grpSp>
        <p:nvGrpSpPr>
          <p:cNvPr id="20" name="Group 20"/>
          <p:cNvGrpSpPr/>
          <p:nvPr/>
        </p:nvGrpSpPr>
        <p:grpSpPr>
          <a:xfrm>
            <a:off x="1257300" y="9505950"/>
            <a:ext cx="4114800" cy="576263"/>
            <a:chOff x="0" y="0"/>
            <a:chExt cx="5486400" cy="768351"/>
          </a:xfrm>
        </p:grpSpPr>
        <p:sp>
          <p:nvSpPr>
            <p:cNvPr id="21" name="Freeform 21"/>
            <p:cNvSpPr/>
            <p:nvPr/>
          </p:nvSpPr>
          <p:spPr>
            <a:xfrm>
              <a:off x="0" y="0"/>
              <a:ext cx="5486400" cy="768351"/>
            </a:xfrm>
            <a:custGeom>
              <a:avLst/>
              <a:gdLst/>
              <a:ahLst/>
              <a:cxnLst/>
              <a:rect l="l" t="t" r="r" b="b"/>
              <a:pathLst>
                <a:path w="5486400" h="768351">
                  <a:moveTo>
                    <a:pt x="0" y="0"/>
                  </a:moveTo>
                  <a:lnTo>
                    <a:pt x="5486400" y="0"/>
                  </a:lnTo>
                  <a:lnTo>
                    <a:pt x="5486400" y="768351"/>
                  </a:lnTo>
                  <a:lnTo>
                    <a:pt x="0" y="768351"/>
                  </a:lnTo>
                  <a:close/>
                </a:path>
              </a:pathLst>
            </a:custGeom>
            <a:solidFill>
              <a:srgbClr val="000000">
                <a:alpha val="0"/>
              </a:srgbClr>
            </a:solidFill>
          </p:spPr>
        </p:sp>
        <p:sp>
          <p:nvSpPr>
            <p:cNvPr id="22" name="TextBox 22"/>
            <p:cNvSpPr txBox="1"/>
            <p:nvPr/>
          </p:nvSpPr>
          <p:spPr>
            <a:xfrm>
              <a:off x="0" y="-38100"/>
              <a:ext cx="5486400" cy="806451"/>
            </a:xfrm>
            <a:prstGeom prst="rect">
              <a:avLst/>
            </a:prstGeom>
          </p:spPr>
          <p:txBody>
            <a:bodyPr lIns="0" tIns="0" rIns="0" bIns="0" rtlCol="0" anchor="ctr"/>
            <a:lstStyle/>
            <a:p>
              <a:pPr algn="l">
                <a:lnSpc>
                  <a:spcPts val="2160"/>
                </a:lnSpc>
              </a:pPr>
              <a:r>
                <a:rPr lang="en-US" sz="1800">
                  <a:solidFill>
                    <a:srgbClr val="898989"/>
                  </a:solidFill>
                  <a:latin typeface="Calibri (MS)" panose="020F0502020204030204"/>
                  <a:ea typeface="Calibri (MS)" panose="020F0502020204030204"/>
                  <a:cs typeface="Calibri (MS)" panose="020F0502020204030204"/>
                  <a:sym typeface="Calibri (MS)" panose="020F0502020204030204"/>
                </a:rPr>
                <a:t>1/24/2026</a:t>
              </a:r>
            </a:p>
          </p:txBody>
        </p:sp>
      </p:grpSp>
      <p:grpSp>
        <p:nvGrpSpPr>
          <p:cNvPr id="23" name="Group 23"/>
          <p:cNvGrpSpPr/>
          <p:nvPr/>
        </p:nvGrpSpPr>
        <p:grpSpPr>
          <a:xfrm>
            <a:off x="11772900" y="10117531"/>
            <a:ext cx="3200400" cy="561976"/>
            <a:chOff x="0" y="0"/>
            <a:chExt cx="4267200" cy="749301"/>
          </a:xfrm>
        </p:grpSpPr>
        <p:sp>
          <p:nvSpPr>
            <p:cNvPr id="24" name="Freeform 24"/>
            <p:cNvSpPr/>
            <p:nvPr/>
          </p:nvSpPr>
          <p:spPr>
            <a:xfrm>
              <a:off x="0" y="0"/>
              <a:ext cx="4267200" cy="749301"/>
            </a:xfrm>
            <a:custGeom>
              <a:avLst/>
              <a:gdLst/>
              <a:ahLst/>
              <a:cxnLst/>
              <a:rect l="l" t="t" r="r" b="b"/>
              <a:pathLst>
                <a:path w="4267200" h="749301">
                  <a:moveTo>
                    <a:pt x="0" y="0"/>
                  </a:moveTo>
                  <a:lnTo>
                    <a:pt x="4267200" y="0"/>
                  </a:lnTo>
                  <a:lnTo>
                    <a:pt x="4267200" y="749301"/>
                  </a:lnTo>
                  <a:lnTo>
                    <a:pt x="0" y="749301"/>
                  </a:lnTo>
                  <a:close/>
                </a:path>
              </a:pathLst>
            </a:custGeom>
            <a:solidFill>
              <a:srgbClr val="000000">
                <a:alpha val="0"/>
              </a:srgbClr>
            </a:solidFill>
          </p:spPr>
        </p:sp>
        <p:sp>
          <p:nvSpPr>
            <p:cNvPr id="25" name="TextBox 25"/>
            <p:cNvSpPr txBox="1"/>
            <p:nvPr/>
          </p:nvSpPr>
          <p:spPr>
            <a:xfrm>
              <a:off x="0" y="-19050"/>
              <a:ext cx="4267200" cy="768351"/>
            </a:xfrm>
            <a:prstGeom prst="rect">
              <a:avLst/>
            </a:prstGeom>
          </p:spPr>
          <p:txBody>
            <a:bodyPr lIns="0" tIns="0" rIns="0" bIns="0" rtlCol="0" anchor="ctr"/>
            <a:lstStyle/>
            <a:p>
              <a:pPr algn="r">
                <a:lnSpc>
                  <a:spcPts val="1890"/>
                </a:lnSpc>
              </a:pPr>
              <a:r>
                <a:rPr lang="en-US" sz="1575">
                  <a:solidFill>
                    <a:srgbClr val="888888"/>
                  </a:solidFill>
                  <a:latin typeface="Calibri (MS)" panose="020F0502020204030204"/>
                  <a:ea typeface="Calibri (MS)" panose="020F0502020204030204"/>
                  <a:cs typeface="Calibri (MS)" panose="020F0502020204030204"/>
                  <a:sym typeface="Calibri (MS)" panose="020F0502020204030204"/>
                </a:rPr>
                <a:t>2</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058900" y="9415306"/>
            <a:ext cx="3200400" cy="561938"/>
            <a:chOff x="0" y="0"/>
            <a:chExt cx="4267200" cy="749250"/>
          </a:xfrm>
        </p:grpSpPr>
        <p:sp>
          <p:nvSpPr>
            <p:cNvPr id="3" name="Freeform 3"/>
            <p:cNvSpPr/>
            <p:nvPr/>
          </p:nvSpPr>
          <p:spPr>
            <a:xfrm>
              <a:off x="0" y="0"/>
              <a:ext cx="4267200" cy="749250"/>
            </a:xfrm>
            <a:custGeom>
              <a:avLst/>
              <a:gdLst/>
              <a:ahLst/>
              <a:cxnLst/>
              <a:rect l="l" t="t" r="r" b="b"/>
              <a:pathLst>
                <a:path w="4267200" h="749250">
                  <a:moveTo>
                    <a:pt x="0" y="0"/>
                  </a:moveTo>
                  <a:lnTo>
                    <a:pt x="4267200" y="0"/>
                  </a:lnTo>
                  <a:lnTo>
                    <a:pt x="4267200" y="749250"/>
                  </a:lnTo>
                  <a:lnTo>
                    <a:pt x="0" y="749250"/>
                  </a:lnTo>
                  <a:close/>
                </a:path>
              </a:pathLst>
            </a:custGeom>
            <a:solidFill>
              <a:srgbClr val="000000">
                <a:alpha val="0"/>
              </a:srgbClr>
            </a:solidFill>
          </p:spPr>
        </p:sp>
        <p:sp>
          <p:nvSpPr>
            <p:cNvPr id="4" name="TextBox 4"/>
            <p:cNvSpPr txBox="1"/>
            <p:nvPr/>
          </p:nvSpPr>
          <p:spPr>
            <a:xfrm>
              <a:off x="0" y="-19050"/>
              <a:ext cx="4267200" cy="768300"/>
            </a:xfrm>
            <a:prstGeom prst="rect">
              <a:avLst/>
            </a:prstGeom>
          </p:spPr>
          <p:txBody>
            <a:bodyPr lIns="0" tIns="0" rIns="0" bIns="0" rtlCol="0" anchor="ctr"/>
            <a:lstStyle/>
            <a:p>
              <a:pPr algn="r">
                <a:lnSpc>
                  <a:spcPts val="1890"/>
                </a:lnSpc>
              </a:pPr>
              <a:r>
                <a:rPr lang="en-US" sz="1575">
                  <a:solidFill>
                    <a:srgbClr val="888888"/>
                  </a:solidFill>
                  <a:latin typeface="Calibri (MS)" panose="020F0502020204030204"/>
                  <a:ea typeface="Calibri (MS)" panose="020F0502020204030204"/>
                  <a:cs typeface="Calibri (MS)" panose="020F0502020204030204"/>
                  <a:sym typeface="Calibri (MS)" panose="020F0502020204030204"/>
                </a:rPr>
                <a:t>2</a:t>
              </a:r>
            </a:p>
          </p:txBody>
        </p:sp>
      </p:grpSp>
      <p:grpSp>
        <p:nvGrpSpPr>
          <p:cNvPr id="5" name="Group 5"/>
          <p:cNvGrpSpPr/>
          <p:nvPr/>
        </p:nvGrpSpPr>
        <p:grpSpPr>
          <a:xfrm>
            <a:off x="-9525" y="-38100"/>
            <a:ext cx="18335982" cy="1879438"/>
            <a:chOff x="0" y="0"/>
            <a:chExt cx="24447976" cy="2505917"/>
          </a:xfrm>
        </p:grpSpPr>
        <p:sp>
          <p:nvSpPr>
            <p:cNvPr id="6" name="Freeform 6"/>
            <p:cNvSpPr/>
            <p:nvPr/>
          </p:nvSpPr>
          <p:spPr>
            <a:xfrm>
              <a:off x="0" y="0"/>
              <a:ext cx="24448008" cy="2505964"/>
            </a:xfrm>
            <a:custGeom>
              <a:avLst/>
              <a:gdLst/>
              <a:ahLst/>
              <a:cxnLst/>
              <a:rect l="l" t="t" r="r" b="b"/>
              <a:pathLst>
                <a:path w="24448008" h="2505964">
                  <a:moveTo>
                    <a:pt x="0" y="0"/>
                  </a:moveTo>
                  <a:lnTo>
                    <a:pt x="24448008" y="0"/>
                  </a:lnTo>
                  <a:lnTo>
                    <a:pt x="24448008" y="2505964"/>
                  </a:lnTo>
                  <a:lnTo>
                    <a:pt x="0" y="2505964"/>
                  </a:lnTo>
                  <a:lnTo>
                    <a:pt x="0" y="0"/>
                  </a:lnTo>
                  <a:close/>
                </a:path>
              </a:pathLst>
            </a:custGeom>
            <a:solidFill>
              <a:srgbClr val="000000">
                <a:alpha val="0"/>
              </a:srgbClr>
            </a:solidFill>
            <a:ln w="12700">
              <a:solidFill>
                <a:srgbClr val="000000"/>
              </a:solidFill>
            </a:ln>
          </p:spPr>
        </p:sp>
      </p:grpSp>
      <p:grpSp>
        <p:nvGrpSpPr>
          <p:cNvPr id="7" name="Group 7"/>
          <p:cNvGrpSpPr/>
          <p:nvPr/>
        </p:nvGrpSpPr>
        <p:grpSpPr>
          <a:xfrm>
            <a:off x="-76962" y="-38100"/>
            <a:ext cx="18488728" cy="1966385"/>
            <a:chOff x="0" y="0"/>
            <a:chExt cx="24651637" cy="2621846"/>
          </a:xfrm>
        </p:grpSpPr>
        <p:sp>
          <p:nvSpPr>
            <p:cNvPr id="8" name="Freeform 8"/>
            <p:cNvSpPr/>
            <p:nvPr/>
          </p:nvSpPr>
          <p:spPr>
            <a:xfrm>
              <a:off x="0" y="0"/>
              <a:ext cx="24651637" cy="2491235"/>
            </a:xfrm>
            <a:custGeom>
              <a:avLst/>
              <a:gdLst/>
              <a:ahLst/>
              <a:cxnLst/>
              <a:rect l="l" t="t" r="r" b="b"/>
              <a:pathLst>
                <a:path w="24651637" h="2491235">
                  <a:moveTo>
                    <a:pt x="0" y="0"/>
                  </a:moveTo>
                  <a:lnTo>
                    <a:pt x="24651637" y="0"/>
                  </a:lnTo>
                  <a:lnTo>
                    <a:pt x="24651637" y="2491235"/>
                  </a:lnTo>
                  <a:lnTo>
                    <a:pt x="0" y="2491235"/>
                  </a:lnTo>
                  <a:lnTo>
                    <a:pt x="0" y="0"/>
                  </a:lnTo>
                  <a:close/>
                </a:path>
              </a:pathLst>
            </a:custGeom>
            <a:blipFill>
              <a:blip r:embed="rId2"/>
              <a:stretch>
                <a:fillRect t="-442" b="-442"/>
              </a:stretch>
            </a:blipFill>
          </p:spPr>
        </p:sp>
        <p:sp>
          <p:nvSpPr>
            <p:cNvPr id="9" name="Freeform 9"/>
            <p:cNvSpPr/>
            <p:nvPr/>
          </p:nvSpPr>
          <p:spPr>
            <a:xfrm>
              <a:off x="20688757" y="0"/>
              <a:ext cx="3962880" cy="2621846"/>
            </a:xfrm>
            <a:custGeom>
              <a:avLst/>
              <a:gdLst/>
              <a:ahLst/>
              <a:cxnLst/>
              <a:rect l="l" t="t" r="r" b="b"/>
              <a:pathLst>
                <a:path w="3962880" h="2621846">
                  <a:moveTo>
                    <a:pt x="0" y="0"/>
                  </a:moveTo>
                  <a:lnTo>
                    <a:pt x="3962880" y="0"/>
                  </a:lnTo>
                  <a:lnTo>
                    <a:pt x="3962880" y="2621846"/>
                  </a:lnTo>
                  <a:lnTo>
                    <a:pt x="0" y="2621846"/>
                  </a:lnTo>
                  <a:lnTo>
                    <a:pt x="0" y="0"/>
                  </a:lnTo>
                  <a:close/>
                </a:path>
              </a:pathLst>
            </a:custGeom>
            <a:blipFill>
              <a:blip r:embed="rId3"/>
              <a:stretch>
                <a:fillRect t="-442" b="-442"/>
              </a:stretch>
            </a:blipFill>
          </p:spPr>
        </p:sp>
      </p:grpSp>
      <p:sp>
        <p:nvSpPr>
          <p:cNvPr id="10" name="Freeform 10"/>
          <p:cNvSpPr/>
          <p:nvPr/>
        </p:nvSpPr>
        <p:spPr>
          <a:xfrm>
            <a:off x="-9525" y="10149893"/>
            <a:ext cx="18336006" cy="146589"/>
          </a:xfrm>
          <a:custGeom>
            <a:avLst/>
            <a:gdLst/>
            <a:ahLst/>
            <a:cxnLst/>
            <a:rect l="l" t="t" r="r" b="b"/>
            <a:pathLst>
              <a:path w="18336006" h="146589">
                <a:moveTo>
                  <a:pt x="0" y="0"/>
                </a:moveTo>
                <a:lnTo>
                  <a:pt x="18336006" y="0"/>
                </a:lnTo>
                <a:lnTo>
                  <a:pt x="18336006" y="146589"/>
                </a:lnTo>
                <a:lnTo>
                  <a:pt x="0" y="146589"/>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grpSp>
        <p:nvGrpSpPr>
          <p:cNvPr id="11" name="Group 11"/>
          <p:cNvGrpSpPr/>
          <p:nvPr/>
        </p:nvGrpSpPr>
        <p:grpSpPr>
          <a:xfrm>
            <a:off x="1257300" y="9505950"/>
            <a:ext cx="4114800" cy="576263"/>
            <a:chOff x="0" y="0"/>
            <a:chExt cx="5486400" cy="768351"/>
          </a:xfrm>
        </p:grpSpPr>
        <p:sp>
          <p:nvSpPr>
            <p:cNvPr id="12" name="Freeform 12"/>
            <p:cNvSpPr/>
            <p:nvPr/>
          </p:nvSpPr>
          <p:spPr>
            <a:xfrm>
              <a:off x="0" y="0"/>
              <a:ext cx="5486400" cy="768351"/>
            </a:xfrm>
            <a:custGeom>
              <a:avLst/>
              <a:gdLst/>
              <a:ahLst/>
              <a:cxnLst/>
              <a:rect l="l" t="t" r="r" b="b"/>
              <a:pathLst>
                <a:path w="5486400" h="768351">
                  <a:moveTo>
                    <a:pt x="0" y="0"/>
                  </a:moveTo>
                  <a:lnTo>
                    <a:pt x="5486400" y="0"/>
                  </a:lnTo>
                  <a:lnTo>
                    <a:pt x="5486400" y="768351"/>
                  </a:lnTo>
                  <a:lnTo>
                    <a:pt x="0" y="768351"/>
                  </a:lnTo>
                  <a:close/>
                </a:path>
              </a:pathLst>
            </a:custGeom>
            <a:solidFill>
              <a:srgbClr val="000000">
                <a:alpha val="0"/>
              </a:srgbClr>
            </a:solidFill>
          </p:spPr>
        </p:sp>
        <p:sp>
          <p:nvSpPr>
            <p:cNvPr id="13" name="TextBox 13"/>
            <p:cNvSpPr txBox="1"/>
            <p:nvPr/>
          </p:nvSpPr>
          <p:spPr>
            <a:xfrm>
              <a:off x="0" y="-38100"/>
              <a:ext cx="5486400" cy="806451"/>
            </a:xfrm>
            <a:prstGeom prst="rect">
              <a:avLst/>
            </a:prstGeom>
          </p:spPr>
          <p:txBody>
            <a:bodyPr lIns="0" tIns="0" rIns="0" bIns="0" rtlCol="0" anchor="ctr"/>
            <a:lstStyle/>
            <a:p>
              <a:pPr algn="l">
                <a:lnSpc>
                  <a:spcPts val="2160"/>
                </a:lnSpc>
              </a:pPr>
              <a:r>
                <a:rPr lang="en-US" sz="1800">
                  <a:solidFill>
                    <a:srgbClr val="898989"/>
                  </a:solidFill>
                  <a:latin typeface="Calibri (MS)" panose="020F0502020204030204"/>
                  <a:ea typeface="Calibri (MS)" panose="020F0502020204030204"/>
                  <a:cs typeface="Calibri (MS)" panose="020F0502020204030204"/>
                  <a:sym typeface="Calibri (MS)" panose="020F0502020204030204"/>
                </a:rPr>
                <a:t>1/24/2026</a:t>
              </a:r>
            </a:p>
          </p:txBody>
        </p:sp>
      </p:grpSp>
      <p:grpSp>
        <p:nvGrpSpPr>
          <p:cNvPr id="14" name="Group 14"/>
          <p:cNvGrpSpPr/>
          <p:nvPr/>
        </p:nvGrpSpPr>
        <p:grpSpPr>
          <a:xfrm>
            <a:off x="11772900" y="10117531"/>
            <a:ext cx="3200400" cy="561976"/>
            <a:chOff x="0" y="0"/>
            <a:chExt cx="4267200" cy="749301"/>
          </a:xfrm>
        </p:grpSpPr>
        <p:sp>
          <p:nvSpPr>
            <p:cNvPr id="15" name="Freeform 15"/>
            <p:cNvSpPr/>
            <p:nvPr/>
          </p:nvSpPr>
          <p:spPr>
            <a:xfrm>
              <a:off x="0" y="0"/>
              <a:ext cx="4267200" cy="749301"/>
            </a:xfrm>
            <a:custGeom>
              <a:avLst/>
              <a:gdLst/>
              <a:ahLst/>
              <a:cxnLst/>
              <a:rect l="l" t="t" r="r" b="b"/>
              <a:pathLst>
                <a:path w="4267200" h="749301">
                  <a:moveTo>
                    <a:pt x="0" y="0"/>
                  </a:moveTo>
                  <a:lnTo>
                    <a:pt x="4267200" y="0"/>
                  </a:lnTo>
                  <a:lnTo>
                    <a:pt x="4267200" y="749301"/>
                  </a:lnTo>
                  <a:lnTo>
                    <a:pt x="0" y="749301"/>
                  </a:lnTo>
                  <a:close/>
                </a:path>
              </a:pathLst>
            </a:custGeom>
            <a:solidFill>
              <a:srgbClr val="000000">
                <a:alpha val="0"/>
              </a:srgbClr>
            </a:solidFill>
          </p:spPr>
        </p:sp>
        <p:sp>
          <p:nvSpPr>
            <p:cNvPr id="16" name="TextBox 16"/>
            <p:cNvSpPr txBox="1"/>
            <p:nvPr/>
          </p:nvSpPr>
          <p:spPr>
            <a:xfrm>
              <a:off x="0" y="-19050"/>
              <a:ext cx="4267200" cy="768351"/>
            </a:xfrm>
            <a:prstGeom prst="rect">
              <a:avLst/>
            </a:prstGeom>
          </p:spPr>
          <p:txBody>
            <a:bodyPr lIns="0" tIns="0" rIns="0" bIns="0" rtlCol="0" anchor="ctr"/>
            <a:lstStyle/>
            <a:p>
              <a:pPr algn="r">
                <a:lnSpc>
                  <a:spcPts val="1890"/>
                </a:lnSpc>
              </a:pPr>
              <a:r>
                <a:rPr lang="en-US" sz="1575">
                  <a:solidFill>
                    <a:srgbClr val="888888"/>
                  </a:solidFill>
                  <a:latin typeface="Calibri (MS)" panose="020F0502020204030204"/>
                  <a:ea typeface="Calibri (MS)" panose="020F0502020204030204"/>
                  <a:cs typeface="Calibri (MS)" panose="020F0502020204030204"/>
                  <a:sym typeface="Calibri (MS)" panose="020F0502020204030204"/>
                </a:rPr>
                <a:t>2</a:t>
              </a:r>
            </a:p>
          </p:txBody>
        </p:sp>
      </p:grpSp>
      <p:sp>
        <p:nvSpPr>
          <p:cNvPr id="17" name="TextBox 17"/>
          <p:cNvSpPr txBox="1"/>
          <p:nvPr/>
        </p:nvSpPr>
        <p:spPr>
          <a:xfrm>
            <a:off x="5825792" y="1770168"/>
            <a:ext cx="6683220" cy="1517275"/>
          </a:xfrm>
          <a:prstGeom prst="rect">
            <a:avLst/>
          </a:prstGeom>
        </p:spPr>
        <p:txBody>
          <a:bodyPr lIns="0" tIns="0" rIns="0" bIns="0" rtlCol="0" anchor="t">
            <a:spAutoFit/>
          </a:bodyPr>
          <a:lstStyle/>
          <a:p>
            <a:pPr algn="ctr">
              <a:lnSpc>
                <a:spcPts val="12880"/>
              </a:lnSpc>
            </a:pPr>
            <a:r>
              <a:rPr lang="en-US" sz="9200" b="1" dirty="0">
                <a:solidFill>
                  <a:srgbClr val="000000"/>
                </a:solidFill>
                <a:latin typeface="Times New Roman" panose="02020603050405020304" pitchFamily="18" charset="0"/>
                <a:ea typeface="Calibri (MS) Bold" panose="020F0702030404030204"/>
                <a:cs typeface="Times New Roman" panose="02020603050405020304" pitchFamily="18" charset="0"/>
                <a:sym typeface="Calibri (MS) Bold" panose="020F0702030404030204"/>
              </a:rPr>
              <a:t>The Problem</a:t>
            </a:r>
          </a:p>
        </p:txBody>
      </p:sp>
      <p:sp>
        <p:nvSpPr>
          <p:cNvPr id="26" name="Text Box 25"/>
          <p:cNvSpPr txBox="1"/>
          <p:nvPr/>
        </p:nvSpPr>
        <p:spPr>
          <a:xfrm>
            <a:off x="1933575" y="3866227"/>
            <a:ext cx="14420850" cy="3662541"/>
          </a:xfrm>
          <a:prstGeom prst="rect">
            <a:avLst/>
          </a:prstGeom>
          <a:noFill/>
        </p:spPr>
        <p:txBody>
          <a:bodyPr wrap="square" rtlCol="0">
            <a:spAutoFit/>
          </a:bodyPr>
          <a:lstStyle/>
          <a:p>
            <a:pPr algn="ctr"/>
            <a:r>
              <a:rPr lang="en-US" sz="4000" b="1" dirty="0">
                <a:latin typeface="Times New Roman" panose="02020603050405020304" pitchFamily="18" charset="0"/>
                <a:cs typeface="Times New Roman" panose="02020603050405020304" pitchFamily="18" charset="0"/>
              </a:rPr>
              <a:t>Many systems keep collecting data all the time, even when nothing has actually changed. This causes extra API calls, higher costs, and waste of computer power. So, we need a smart system that collects data only when it is actually useful or important, instead of doing it all the time.</a:t>
            </a:r>
          </a:p>
          <a:p>
            <a:endParaRPr lang="en-US" sz="3200" dirty="0">
              <a:latin typeface="Times New Roman" panose="02020603050405020304" pitchFamily="18" charset="0"/>
              <a:cs typeface="Times New Roman" panose="02020603050405020304" pitchFamily="18" charset="0"/>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058900" y="9415306"/>
            <a:ext cx="3200400" cy="561938"/>
            <a:chOff x="0" y="0"/>
            <a:chExt cx="4267200" cy="749250"/>
          </a:xfrm>
        </p:grpSpPr>
        <p:sp>
          <p:nvSpPr>
            <p:cNvPr id="3" name="Freeform 3"/>
            <p:cNvSpPr/>
            <p:nvPr/>
          </p:nvSpPr>
          <p:spPr>
            <a:xfrm>
              <a:off x="0" y="0"/>
              <a:ext cx="4267200" cy="749250"/>
            </a:xfrm>
            <a:custGeom>
              <a:avLst/>
              <a:gdLst/>
              <a:ahLst/>
              <a:cxnLst/>
              <a:rect l="l" t="t" r="r" b="b"/>
              <a:pathLst>
                <a:path w="4267200" h="749250">
                  <a:moveTo>
                    <a:pt x="0" y="0"/>
                  </a:moveTo>
                  <a:lnTo>
                    <a:pt x="4267200" y="0"/>
                  </a:lnTo>
                  <a:lnTo>
                    <a:pt x="4267200" y="749250"/>
                  </a:lnTo>
                  <a:lnTo>
                    <a:pt x="0" y="749250"/>
                  </a:lnTo>
                  <a:close/>
                </a:path>
              </a:pathLst>
            </a:custGeom>
            <a:solidFill>
              <a:srgbClr val="000000">
                <a:alpha val="0"/>
              </a:srgbClr>
            </a:solidFill>
          </p:spPr>
        </p:sp>
        <p:sp>
          <p:nvSpPr>
            <p:cNvPr id="4" name="TextBox 4"/>
            <p:cNvSpPr txBox="1"/>
            <p:nvPr/>
          </p:nvSpPr>
          <p:spPr>
            <a:xfrm>
              <a:off x="0" y="-19050"/>
              <a:ext cx="4267200" cy="768300"/>
            </a:xfrm>
            <a:prstGeom prst="rect">
              <a:avLst/>
            </a:prstGeom>
          </p:spPr>
          <p:txBody>
            <a:bodyPr lIns="0" tIns="0" rIns="0" bIns="0" rtlCol="0" anchor="ctr"/>
            <a:lstStyle/>
            <a:p>
              <a:pPr algn="r">
                <a:lnSpc>
                  <a:spcPts val="1890"/>
                </a:lnSpc>
              </a:pPr>
              <a:r>
                <a:rPr lang="en-US" sz="1575">
                  <a:solidFill>
                    <a:srgbClr val="888888"/>
                  </a:solidFill>
                  <a:latin typeface="Calibri (MS)" panose="020F0502020204030204"/>
                  <a:ea typeface="Calibri (MS)" panose="020F0502020204030204"/>
                  <a:cs typeface="Calibri (MS)" panose="020F0502020204030204"/>
                  <a:sym typeface="Calibri (MS)" panose="020F0502020204030204"/>
                </a:rPr>
                <a:t>3</a:t>
              </a:r>
            </a:p>
          </p:txBody>
        </p:sp>
      </p:grpSp>
      <p:grpSp>
        <p:nvGrpSpPr>
          <p:cNvPr id="5" name="Group 5"/>
          <p:cNvGrpSpPr/>
          <p:nvPr/>
        </p:nvGrpSpPr>
        <p:grpSpPr>
          <a:xfrm>
            <a:off x="-9525" y="-38100"/>
            <a:ext cx="18335982" cy="1879438"/>
            <a:chOff x="0" y="0"/>
            <a:chExt cx="24447976" cy="2505917"/>
          </a:xfrm>
        </p:grpSpPr>
        <p:sp>
          <p:nvSpPr>
            <p:cNvPr id="6" name="Freeform 6"/>
            <p:cNvSpPr/>
            <p:nvPr/>
          </p:nvSpPr>
          <p:spPr>
            <a:xfrm>
              <a:off x="0" y="0"/>
              <a:ext cx="24448008" cy="2505964"/>
            </a:xfrm>
            <a:custGeom>
              <a:avLst/>
              <a:gdLst/>
              <a:ahLst/>
              <a:cxnLst/>
              <a:rect l="l" t="t" r="r" b="b"/>
              <a:pathLst>
                <a:path w="24448008" h="2505964">
                  <a:moveTo>
                    <a:pt x="0" y="0"/>
                  </a:moveTo>
                  <a:lnTo>
                    <a:pt x="24448008" y="0"/>
                  </a:lnTo>
                  <a:lnTo>
                    <a:pt x="24448008" y="2505964"/>
                  </a:lnTo>
                  <a:lnTo>
                    <a:pt x="0" y="2505964"/>
                  </a:lnTo>
                  <a:lnTo>
                    <a:pt x="0" y="0"/>
                  </a:lnTo>
                  <a:close/>
                </a:path>
              </a:pathLst>
            </a:custGeom>
            <a:solidFill>
              <a:srgbClr val="000000">
                <a:alpha val="0"/>
              </a:srgbClr>
            </a:solidFill>
            <a:ln w="12700">
              <a:solidFill>
                <a:srgbClr val="000000"/>
              </a:solidFill>
            </a:ln>
          </p:spPr>
        </p:sp>
      </p:grpSp>
      <p:grpSp>
        <p:nvGrpSpPr>
          <p:cNvPr id="7" name="Group 7"/>
          <p:cNvGrpSpPr/>
          <p:nvPr/>
        </p:nvGrpSpPr>
        <p:grpSpPr>
          <a:xfrm>
            <a:off x="-76962" y="-38100"/>
            <a:ext cx="18488728" cy="1966385"/>
            <a:chOff x="0" y="0"/>
            <a:chExt cx="24651637" cy="2621846"/>
          </a:xfrm>
        </p:grpSpPr>
        <p:sp>
          <p:nvSpPr>
            <p:cNvPr id="8" name="Freeform 8"/>
            <p:cNvSpPr/>
            <p:nvPr/>
          </p:nvSpPr>
          <p:spPr>
            <a:xfrm>
              <a:off x="0" y="0"/>
              <a:ext cx="24651637" cy="2491235"/>
            </a:xfrm>
            <a:custGeom>
              <a:avLst/>
              <a:gdLst/>
              <a:ahLst/>
              <a:cxnLst/>
              <a:rect l="l" t="t" r="r" b="b"/>
              <a:pathLst>
                <a:path w="24651637" h="2491235">
                  <a:moveTo>
                    <a:pt x="0" y="0"/>
                  </a:moveTo>
                  <a:lnTo>
                    <a:pt x="24651637" y="0"/>
                  </a:lnTo>
                  <a:lnTo>
                    <a:pt x="24651637" y="2491235"/>
                  </a:lnTo>
                  <a:lnTo>
                    <a:pt x="0" y="2491235"/>
                  </a:lnTo>
                  <a:lnTo>
                    <a:pt x="0" y="0"/>
                  </a:lnTo>
                  <a:close/>
                </a:path>
              </a:pathLst>
            </a:custGeom>
            <a:blipFill>
              <a:blip r:embed="rId2"/>
              <a:stretch>
                <a:fillRect t="-442" b="-442"/>
              </a:stretch>
            </a:blipFill>
          </p:spPr>
        </p:sp>
        <p:sp>
          <p:nvSpPr>
            <p:cNvPr id="9" name="Freeform 9"/>
            <p:cNvSpPr/>
            <p:nvPr/>
          </p:nvSpPr>
          <p:spPr>
            <a:xfrm>
              <a:off x="20688757" y="0"/>
              <a:ext cx="3962880" cy="2621846"/>
            </a:xfrm>
            <a:custGeom>
              <a:avLst/>
              <a:gdLst/>
              <a:ahLst/>
              <a:cxnLst/>
              <a:rect l="l" t="t" r="r" b="b"/>
              <a:pathLst>
                <a:path w="3962880" h="2621846">
                  <a:moveTo>
                    <a:pt x="0" y="0"/>
                  </a:moveTo>
                  <a:lnTo>
                    <a:pt x="3962880" y="0"/>
                  </a:lnTo>
                  <a:lnTo>
                    <a:pt x="3962880" y="2621846"/>
                  </a:lnTo>
                  <a:lnTo>
                    <a:pt x="0" y="2621846"/>
                  </a:lnTo>
                  <a:lnTo>
                    <a:pt x="0" y="0"/>
                  </a:lnTo>
                  <a:close/>
                </a:path>
              </a:pathLst>
            </a:custGeom>
            <a:blipFill>
              <a:blip r:embed="rId3"/>
              <a:stretch>
                <a:fillRect t="-442" b="-442"/>
              </a:stretch>
            </a:blipFill>
          </p:spPr>
        </p:sp>
      </p:grpSp>
      <p:sp>
        <p:nvSpPr>
          <p:cNvPr id="10" name="Freeform 10"/>
          <p:cNvSpPr/>
          <p:nvPr/>
        </p:nvSpPr>
        <p:spPr>
          <a:xfrm>
            <a:off x="-9525" y="10149893"/>
            <a:ext cx="18336006" cy="146589"/>
          </a:xfrm>
          <a:custGeom>
            <a:avLst/>
            <a:gdLst/>
            <a:ahLst/>
            <a:cxnLst/>
            <a:rect l="l" t="t" r="r" b="b"/>
            <a:pathLst>
              <a:path w="18336006" h="146589">
                <a:moveTo>
                  <a:pt x="0" y="0"/>
                </a:moveTo>
                <a:lnTo>
                  <a:pt x="18336006" y="0"/>
                </a:lnTo>
                <a:lnTo>
                  <a:pt x="18336006" y="146589"/>
                </a:lnTo>
                <a:lnTo>
                  <a:pt x="0" y="146589"/>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grpSp>
        <p:nvGrpSpPr>
          <p:cNvPr id="11" name="Group 11"/>
          <p:cNvGrpSpPr/>
          <p:nvPr/>
        </p:nvGrpSpPr>
        <p:grpSpPr>
          <a:xfrm>
            <a:off x="1257300" y="9505950"/>
            <a:ext cx="4114800" cy="576263"/>
            <a:chOff x="0" y="0"/>
            <a:chExt cx="5486400" cy="768351"/>
          </a:xfrm>
        </p:grpSpPr>
        <p:sp>
          <p:nvSpPr>
            <p:cNvPr id="12" name="Freeform 12"/>
            <p:cNvSpPr/>
            <p:nvPr/>
          </p:nvSpPr>
          <p:spPr>
            <a:xfrm>
              <a:off x="0" y="0"/>
              <a:ext cx="5486400" cy="768351"/>
            </a:xfrm>
            <a:custGeom>
              <a:avLst/>
              <a:gdLst/>
              <a:ahLst/>
              <a:cxnLst/>
              <a:rect l="l" t="t" r="r" b="b"/>
              <a:pathLst>
                <a:path w="5486400" h="768351">
                  <a:moveTo>
                    <a:pt x="0" y="0"/>
                  </a:moveTo>
                  <a:lnTo>
                    <a:pt x="5486400" y="0"/>
                  </a:lnTo>
                  <a:lnTo>
                    <a:pt x="5486400" y="768351"/>
                  </a:lnTo>
                  <a:lnTo>
                    <a:pt x="0" y="768351"/>
                  </a:lnTo>
                  <a:close/>
                </a:path>
              </a:pathLst>
            </a:custGeom>
            <a:solidFill>
              <a:srgbClr val="000000">
                <a:alpha val="0"/>
              </a:srgbClr>
            </a:solidFill>
          </p:spPr>
        </p:sp>
        <p:sp>
          <p:nvSpPr>
            <p:cNvPr id="13" name="TextBox 13"/>
            <p:cNvSpPr txBox="1"/>
            <p:nvPr/>
          </p:nvSpPr>
          <p:spPr>
            <a:xfrm>
              <a:off x="0" y="-38100"/>
              <a:ext cx="5486400" cy="806451"/>
            </a:xfrm>
            <a:prstGeom prst="rect">
              <a:avLst/>
            </a:prstGeom>
          </p:spPr>
          <p:txBody>
            <a:bodyPr lIns="0" tIns="0" rIns="0" bIns="0" rtlCol="0" anchor="ctr"/>
            <a:lstStyle/>
            <a:p>
              <a:pPr algn="l">
                <a:lnSpc>
                  <a:spcPts val="2160"/>
                </a:lnSpc>
              </a:pPr>
              <a:r>
                <a:rPr lang="en-US" sz="1800">
                  <a:solidFill>
                    <a:srgbClr val="898989"/>
                  </a:solidFill>
                  <a:latin typeface="Calibri (MS)" panose="020F0502020204030204"/>
                  <a:ea typeface="Calibri (MS)" panose="020F0502020204030204"/>
                  <a:cs typeface="Calibri (MS)" panose="020F0502020204030204"/>
                  <a:sym typeface="Calibri (MS)" panose="020F0502020204030204"/>
                </a:rPr>
                <a:t>1/24/2026</a:t>
              </a:r>
            </a:p>
          </p:txBody>
        </p:sp>
      </p:grpSp>
      <p:grpSp>
        <p:nvGrpSpPr>
          <p:cNvPr id="14" name="Group 14"/>
          <p:cNvGrpSpPr/>
          <p:nvPr/>
        </p:nvGrpSpPr>
        <p:grpSpPr>
          <a:xfrm>
            <a:off x="11772900" y="10117531"/>
            <a:ext cx="3200400" cy="561976"/>
            <a:chOff x="0" y="0"/>
            <a:chExt cx="4267200" cy="749301"/>
          </a:xfrm>
        </p:grpSpPr>
        <p:sp>
          <p:nvSpPr>
            <p:cNvPr id="15" name="Freeform 15"/>
            <p:cNvSpPr/>
            <p:nvPr/>
          </p:nvSpPr>
          <p:spPr>
            <a:xfrm>
              <a:off x="0" y="0"/>
              <a:ext cx="4267200" cy="749301"/>
            </a:xfrm>
            <a:custGeom>
              <a:avLst/>
              <a:gdLst/>
              <a:ahLst/>
              <a:cxnLst/>
              <a:rect l="l" t="t" r="r" b="b"/>
              <a:pathLst>
                <a:path w="4267200" h="749301">
                  <a:moveTo>
                    <a:pt x="0" y="0"/>
                  </a:moveTo>
                  <a:lnTo>
                    <a:pt x="4267200" y="0"/>
                  </a:lnTo>
                  <a:lnTo>
                    <a:pt x="4267200" y="749301"/>
                  </a:lnTo>
                  <a:lnTo>
                    <a:pt x="0" y="749301"/>
                  </a:lnTo>
                  <a:close/>
                </a:path>
              </a:pathLst>
            </a:custGeom>
            <a:solidFill>
              <a:srgbClr val="000000">
                <a:alpha val="0"/>
              </a:srgbClr>
            </a:solidFill>
          </p:spPr>
        </p:sp>
        <p:sp>
          <p:nvSpPr>
            <p:cNvPr id="16" name="TextBox 16"/>
            <p:cNvSpPr txBox="1"/>
            <p:nvPr/>
          </p:nvSpPr>
          <p:spPr>
            <a:xfrm>
              <a:off x="0" y="-19050"/>
              <a:ext cx="4267200" cy="768351"/>
            </a:xfrm>
            <a:prstGeom prst="rect">
              <a:avLst/>
            </a:prstGeom>
          </p:spPr>
          <p:txBody>
            <a:bodyPr lIns="0" tIns="0" rIns="0" bIns="0" rtlCol="0" anchor="ctr"/>
            <a:lstStyle/>
            <a:p>
              <a:pPr algn="r">
                <a:lnSpc>
                  <a:spcPts val="1890"/>
                </a:lnSpc>
              </a:pPr>
              <a:r>
                <a:rPr lang="en-US" sz="1575">
                  <a:solidFill>
                    <a:srgbClr val="888888"/>
                  </a:solidFill>
                  <a:latin typeface="Calibri (MS)" panose="020F0502020204030204"/>
                  <a:ea typeface="Calibri (MS)" panose="020F0502020204030204"/>
                  <a:cs typeface="Calibri (MS)" panose="020F0502020204030204"/>
                  <a:sym typeface="Calibri (MS)" panose="020F0502020204030204"/>
                </a:rPr>
                <a:t>2</a:t>
              </a:r>
            </a:p>
          </p:txBody>
        </p:sp>
      </p:grpSp>
      <p:sp>
        <p:nvSpPr>
          <p:cNvPr id="17" name="TextBox 17"/>
          <p:cNvSpPr txBox="1"/>
          <p:nvPr/>
        </p:nvSpPr>
        <p:spPr>
          <a:xfrm>
            <a:off x="5816868" y="1699911"/>
            <a:ext cx="6683220" cy="1517275"/>
          </a:xfrm>
          <a:prstGeom prst="rect">
            <a:avLst/>
          </a:prstGeom>
        </p:spPr>
        <p:txBody>
          <a:bodyPr lIns="0" tIns="0" rIns="0" bIns="0" rtlCol="0" anchor="t">
            <a:spAutoFit/>
          </a:bodyPr>
          <a:lstStyle/>
          <a:p>
            <a:pPr algn="ctr">
              <a:lnSpc>
                <a:spcPts val="12880"/>
              </a:lnSpc>
            </a:pPr>
            <a:r>
              <a:rPr lang="en-US" sz="9200" b="1" dirty="0">
                <a:solidFill>
                  <a:srgbClr val="000000"/>
                </a:solidFill>
                <a:latin typeface="Times New Roman" panose="02020603050405020304" pitchFamily="18" charset="0"/>
                <a:ea typeface="Calibri (MS) Bold" panose="020F0702030404030204"/>
                <a:cs typeface="Times New Roman" panose="02020603050405020304" pitchFamily="18" charset="0"/>
                <a:sym typeface="Calibri (MS) Bold" panose="020F0702030404030204"/>
              </a:rPr>
              <a:t>The Solution</a:t>
            </a:r>
          </a:p>
        </p:txBody>
      </p:sp>
      <p:sp>
        <p:nvSpPr>
          <p:cNvPr id="31" name="Rectangle 1">
            <a:extLst>
              <a:ext uri="{FF2B5EF4-FFF2-40B4-BE49-F238E27FC236}">
                <a16:creationId xmlns:a16="http://schemas.microsoft.com/office/drawing/2014/main" xmlns="" id="{07F817EC-D25B-42F3-C0E6-8DF2FD0665CE}"/>
              </a:ext>
            </a:extLst>
          </p:cNvPr>
          <p:cNvSpPr>
            <a:spLocks noChangeArrowheads="1"/>
          </p:cNvSpPr>
          <p:nvPr/>
        </p:nvSpPr>
        <p:spPr bwMode="auto">
          <a:xfrm>
            <a:off x="1905000" y="3789348"/>
            <a:ext cx="14401800" cy="470898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r>
              <a:rPr lang="en-US" sz="3400" b="1" dirty="0">
                <a:latin typeface="Times New Roman" panose="02020603050405020304" pitchFamily="18" charset="0"/>
                <a:cs typeface="Times New Roman" panose="02020603050405020304" pitchFamily="18" charset="0"/>
              </a:rPr>
              <a:t>We are building a smart data collection agent that decides when data is worth paying for.</a:t>
            </a:r>
            <a:br>
              <a:rPr lang="en-US" sz="3400" b="1" dirty="0">
                <a:latin typeface="Times New Roman" panose="02020603050405020304" pitchFamily="18" charset="0"/>
                <a:cs typeface="Times New Roman" panose="02020603050405020304" pitchFamily="18" charset="0"/>
              </a:rPr>
            </a:br>
            <a:r>
              <a:rPr lang="en-US" sz="3400" b="1" dirty="0">
                <a:latin typeface="Times New Roman" panose="02020603050405020304" pitchFamily="18" charset="0"/>
                <a:cs typeface="Times New Roman" panose="02020603050405020304" pitchFamily="18" charset="0"/>
              </a:rPr>
              <a:t>Instead of collecting silver market data from all sources all the time, the agent checks how much the data is changing, how old it is, and how expensive the source is.</a:t>
            </a:r>
          </a:p>
          <a:p>
            <a:pPr algn="ctr"/>
            <a:r>
              <a:rPr lang="en-US" sz="3400" b="1" dirty="0">
                <a:latin typeface="Times New Roman" panose="02020603050405020304" pitchFamily="18" charset="0"/>
                <a:cs typeface="Times New Roman" panose="02020603050405020304" pitchFamily="18" charset="0"/>
              </a:rPr>
              <a:t>If nothing important is happening, it skips the data and saves money.</a:t>
            </a:r>
            <a:br>
              <a:rPr lang="en-US" sz="3400" b="1" dirty="0">
                <a:latin typeface="Times New Roman" panose="02020603050405020304" pitchFamily="18" charset="0"/>
                <a:cs typeface="Times New Roman" panose="02020603050405020304" pitchFamily="18" charset="0"/>
              </a:rPr>
            </a:br>
            <a:r>
              <a:rPr lang="en-US" sz="3400" b="1" dirty="0">
                <a:latin typeface="Times New Roman" panose="02020603050405020304" pitchFamily="18" charset="0"/>
                <a:cs typeface="Times New Roman" panose="02020603050405020304" pitchFamily="18" charset="0"/>
              </a:rPr>
              <a:t>If there is a sudden spike or emergency, it collects the data immediately, even if it’s expensive.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058900" y="9415306"/>
            <a:ext cx="3200400" cy="561938"/>
            <a:chOff x="0" y="0"/>
            <a:chExt cx="4267200" cy="749250"/>
          </a:xfrm>
        </p:grpSpPr>
        <p:sp>
          <p:nvSpPr>
            <p:cNvPr id="3" name="Freeform 3"/>
            <p:cNvSpPr/>
            <p:nvPr/>
          </p:nvSpPr>
          <p:spPr>
            <a:xfrm>
              <a:off x="0" y="0"/>
              <a:ext cx="4267200" cy="749250"/>
            </a:xfrm>
            <a:custGeom>
              <a:avLst/>
              <a:gdLst/>
              <a:ahLst/>
              <a:cxnLst/>
              <a:rect l="l" t="t" r="r" b="b"/>
              <a:pathLst>
                <a:path w="4267200" h="749250">
                  <a:moveTo>
                    <a:pt x="0" y="0"/>
                  </a:moveTo>
                  <a:lnTo>
                    <a:pt x="4267200" y="0"/>
                  </a:lnTo>
                  <a:lnTo>
                    <a:pt x="4267200" y="749250"/>
                  </a:lnTo>
                  <a:lnTo>
                    <a:pt x="0" y="749250"/>
                  </a:lnTo>
                  <a:close/>
                </a:path>
              </a:pathLst>
            </a:custGeom>
            <a:solidFill>
              <a:srgbClr val="000000">
                <a:alpha val="0"/>
              </a:srgbClr>
            </a:solidFill>
          </p:spPr>
        </p:sp>
        <p:sp>
          <p:nvSpPr>
            <p:cNvPr id="4" name="TextBox 4"/>
            <p:cNvSpPr txBox="1"/>
            <p:nvPr/>
          </p:nvSpPr>
          <p:spPr>
            <a:xfrm>
              <a:off x="0" y="-19050"/>
              <a:ext cx="4267200" cy="768300"/>
            </a:xfrm>
            <a:prstGeom prst="rect">
              <a:avLst/>
            </a:prstGeom>
          </p:spPr>
          <p:txBody>
            <a:bodyPr lIns="0" tIns="0" rIns="0" bIns="0" rtlCol="0" anchor="ctr"/>
            <a:lstStyle/>
            <a:p>
              <a:pPr algn="r">
                <a:lnSpc>
                  <a:spcPts val="1890"/>
                </a:lnSpc>
              </a:pPr>
              <a:r>
                <a:rPr lang="en-US" sz="1575">
                  <a:solidFill>
                    <a:srgbClr val="888888"/>
                  </a:solidFill>
                  <a:latin typeface="Calibri (MS)" panose="020F0502020204030204"/>
                  <a:ea typeface="Calibri (MS)" panose="020F0502020204030204"/>
                  <a:cs typeface="Calibri (MS)" panose="020F0502020204030204"/>
                  <a:sym typeface="Calibri (MS)" panose="020F0502020204030204"/>
                </a:rPr>
                <a:t>4</a:t>
              </a:r>
            </a:p>
          </p:txBody>
        </p:sp>
      </p:grpSp>
      <p:grpSp>
        <p:nvGrpSpPr>
          <p:cNvPr id="5" name="Group 5"/>
          <p:cNvGrpSpPr/>
          <p:nvPr/>
        </p:nvGrpSpPr>
        <p:grpSpPr>
          <a:xfrm>
            <a:off x="-9525" y="-38100"/>
            <a:ext cx="18335982" cy="1879438"/>
            <a:chOff x="0" y="0"/>
            <a:chExt cx="24447976" cy="2505917"/>
          </a:xfrm>
        </p:grpSpPr>
        <p:sp>
          <p:nvSpPr>
            <p:cNvPr id="6" name="Freeform 6"/>
            <p:cNvSpPr/>
            <p:nvPr/>
          </p:nvSpPr>
          <p:spPr>
            <a:xfrm>
              <a:off x="0" y="0"/>
              <a:ext cx="24448008" cy="2505964"/>
            </a:xfrm>
            <a:custGeom>
              <a:avLst/>
              <a:gdLst/>
              <a:ahLst/>
              <a:cxnLst/>
              <a:rect l="l" t="t" r="r" b="b"/>
              <a:pathLst>
                <a:path w="24448008" h="2505964">
                  <a:moveTo>
                    <a:pt x="0" y="0"/>
                  </a:moveTo>
                  <a:lnTo>
                    <a:pt x="24448008" y="0"/>
                  </a:lnTo>
                  <a:lnTo>
                    <a:pt x="24448008" y="2505964"/>
                  </a:lnTo>
                  <a:lnTo>
                    <a:pt x="0" y="2505964"/>
                  </a:lnTo>
                  <a:lnTo>
                    <a:pt x="0" y="0"/>
                  </a:lnTo>
                  <a:close/>
                </a:path>
              </a:pathLst>
            </a:custGeom>
            <a:solidFill>
              <a:srgbClr val="000000">
                <a:alpha val="0"/>
              </a:srgbClr>
            </a:solidFill>
            <a:ln w="12700">
              <a:solidFill>
                <a:srgbClr val="000000"/>
              </a:solidFill>
            </a:ln>
          </p:spPr>
        </p:sp>
      </p:grpSp>
      <p:grpSp>
        <p:nvGrpSpPr>
          <p:cNvPr id="7" name="Group 7"/>
          <p:cNvGrpSpPr/>
          <p:nvPr/>
        </p:nvGrpSpPr>
        <p:grpSpPr>
          <a:xfrm>
            <a:off x="-76962" y="-38100"/>
            <a:ext cx="18488728" cy="1966385"/>
            <a:chOff x="0" y="0"/>
            <a:chExt cx="24651637" cy="2621846"/>
          </a:xfrm>
        </p:grpSpPr>
        <p:sp>
          <p:nvSpPr>
            <p:cNvPr id="8" name="Freeform 8"/>
            <p:cNvSpPr/>
            <p:nvPr/>
          </p:nvSpPr>
          <p:spPr>
            <a:xfrm>
              <a:off x="0" y="0"/>
              <a:ext cx="24651637" cy="2491235"/>
            </a:xfrm>
            <a:custGeom>
              <a:avLst/>
              <a:gdLst/>
              <a:ahLst/>
              <a:cxnLst/>
              <a:rect l="l" t="t" r="r" b="b"/>
              <a:pathLst>
                <a:path w="24651637" h="2491235">
                  <a:moveTo>
                    <a:pt x="0" y="0"/>
                  </a:moveTo>
                  <a:lnTo>
                    <a:pt x="24651637" y="0"/>
                  </a:lnTo>
                  <a:lnTo>
                    <a:pt x="24651637" y="2491235"/>
                  </a:lnTo>
                  <a:lnTo>
                    <a:pt x="0" y="2491235"/>
                  </a:lnTo>
                  <a:lnTo>
                    <a:pt x="0" y="0"/>
                  </a:lnTo>
                  <a:close/>
                </a:path>
              </a:pathLst>
            </a:custGeom>
            <a:blipFill>
              <a:blip r:embed="rId2"/>
              <a:stretch>
                <a:fillRect t="-442" b="-442"/>
              </a:stretch>
            </a:blipFill>
          </p:spPr>
        </p:sp>
        <p:sp>
          <p:nvSpPr>
            <p:cNvPr id="9" name="Freeform 9"/>
            <p:cNvSpPr/>
            <p:nvPr/>
          </p:nvSpPr>
          <p:spPr>
            <a:xfrm>
              <a:off x="20688757" y="0"/>
              <a:ext cx="3962880" cy="2621846"/>
            </a:xfrm>
            <a:custGeom>
              <a:avLst/>
              <a:gdLst/>
              <a:ahLst/>
              <a:cxnLst/>
              <a:rect l="l" t="t" r="r" b="b"/>
              <a:pathLst>
                <a:path w="3962880" h="2621846">
                  <a:moveTo>
                    <a:pt x="0" y="0"/>
                  </a:moveTo>
                  <a:lnTo>
                    <a:pt x="3962880" y="0"/>
                  </a:lnTo>
                  <a:lnTo>
                    <a:pt x="3962880" y="2621846"/>
                  </a:lnTo>
                  <a:lnTo>
                    <a:pt x="0" y="2621846"/>
                  </a:lnTo>
                  <a:lnTo>
                    <a:pt x="0" y="0"/>
                  </a:lnTo>
                  <a:close/>
                </a:path>
              </a:pathLst>
            </a:custGeom>
            <a:blipFill>
              <a:blip r:embed="rId3"/>
              <a:stretch>
                <a:fillRect t="-442" b="-442"/>
              </a:stretch>
            </a:blipFill>
          </p:spPr>
        </p:sp>
      </p:grpSp>
      <p:sp>
        <p:nvSpPr>
          <p:cNvPr id="10" name="Freeform 10"/>
          <p:cNvSpPr/>
          <p:nvPr/>
        </p:nvSpPr>
        <p:spPr>
          <a:xfrm>
            <a:off x="-9525" y="10149893"/>
            <a:ext cx="18336006" cy="146589"/>
          </a:xfrm>
          <a:custGeom>
            <a:avLst/>
            <a:gdLst/>
            <a:ahLst/>
            <a:cxnLst/>
            <a:rect l="l" t="t" r="r" b="b"/>
            <a:pathLst>
              <a:path w="18336006" h="146589">
                <a:moveTo>
                  <a:pt x="0" y="0"/>
                </a:moveTo>
                <a:lnTo>
                  <a:pt x="18336006" y="0"/>
                </a:lnTo>
                <a:lnTo>
                  <a:pt x="18336006" y="146589"/>
                </a:lnTo>
                <a:lnTo>
                  <a:pt x="0" y="146589"/>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grpSp>
        <p:nvGrpSpPr>
          <p:cNvPr id="11" name="Group 11"/>
          <p:cNvGrpSpPr/>
          <p:nvPr/>
        </p:nvGrpSpPr>
        <p:grpSpPr>
          <a:xfrm>
            <a:off x="1257300" y="9505950"/>
            <a:ext cx="4114800" cy="576263"/>
            <a:chOff x="0" y="0"/>
            <a:chExt cx="5486400" cy="768351"/>
          </a:xfrm>
        </p:grpSpPr>
        <p:sp>
          <p:nvSpPr>
            <p:cNvPr id="12" name="Freeform 12"/>
            <p:cNvSpPr/>
            <p:nvPr/>
          </p:nvSpPr>
          <p:spPr>
            <a:xfrm>
              <a:off x="0" y="0"/>
              <a:ext cx="5486400" cy="768351"/>
            </a:xfrm>
            <a:custGeom>
              <a:avLst/>
              <a:gdLst/>
              <a:ahLst/>
              <a:cxnLst/>
              <a:rect l="l" t="t" r="r" b="b"/>
              <a:pathLst>
                <a:path w="5486400" h="768351">
                  <a:moveTo>
                    <a:pt x="0" y="0"/>
                  </a:moveTo>
                  <a:lnTo>
                    <a:pt x="5486400" y="0"/>
                  </a:lnTo>
                  <a:lnTo>
                    <a:pt x="5486400" y="768351"/>
                  </a:lnTo>
                  <a:lnTo>
                    <a:pt x="0" y="768351"/>
                  </a:lnTo>
                  <a:close/>
                </a:path>
              </a:pathLst>
            </a:custGeom>
            <a:solidFill>
              <a:srgbClr val="000000">
                <a:alpha val="0"/>
              </a:srgbClr>
            </a:solidFill>
          </p:spPr>
        </p:sp>
        <p:sp>
          <p:nvSpPr>
            <p:cNvPr id="13" name="TextBox 13"/>
            <p:cNvSpPr txBox="1"/>
            <p:nvPr/>
          </p:nvSpPr>
          <p:spPr>
            <a:xfrm>
              <a:off x="0" y="-38100"/>
              <a:ext cx="5486400" cy="806451"/>
            </a:xfrm>
            <a:prstGeom prst="rect">
              <a:avLst/>
            </a:prstGeom>
          </p:spPr>
          <p:txBody>
            <a:bodyPr lIns="0" tIns="0" rIns="0" bIns="0" rtlCol="0" anchor="ctr"/>
            <a:lstStyle/>
            <a:p>
              <a:pPr algn="l">
                <a:lnSpc>
                  <a:spcPts val="2160"/>
                </a:lnSpc>
              </a:pPr>
              <a:r>
                <a:rPr lang="en-US" sz="1800">
                  <a:solidFill>
                    <a:srgbClr val="898989"/>
                  </a:solidFill>
                  <a:latin typeface="Calibri (MS)" panose="020F0502020204030204"/>
                  <a:ea typeface="Calibri (MS)" panose="020F0502020204030204"/>
                  <a:cs typeface="Calibri (MS)" panose="020F0502020204030204"/>
                  <a:sym typeface="Calibri (MS)" panose="020F0502020204030204"/>
                </a:rPr>
                <a:t>1/24/2026</a:t>
              </a:r>
            </a:p>
          </p:txBody>
        </p:sp>
      </p:grpSp>
      <p:grpSp>
        <p:nvGrpSpPr>
          <p:cNvPr id="14" name="Group 14"/>
          <p:cNvGrpSpPr/>
          <p:nvPr/>
        </p:nvGrpSpPr>
        <p:grpSpPr>
          <a:xfrm>
            <a:off x="11772900" y="10117531"/>
            <a:ext cx="3200400" cy="561976"/>
            <a:chOff x="0" y="0"/>
            <a:chExt cx="4267200" cy="749301"/>
          </a:xfrm>
        </p:grpSpPr>
        <p:sp>
          <p:nvSpPr>
            <p:cNvPr id="15" name="Freeform 15"/>
            <p:cNvSpPr/>
            <p:nvPr/>
          </p:nvSpPr>
          <p:spPr>
            <a:xfrm>
              <a:off x="0" y="0"/>
              <a:ext cx="4267200" cy="749301"/>
            </a:xfrm>
            <a:custGeom>
              <a:avLst/>
              <a:gdLst/>
              <a:ahLst/>
              <a:cxnLst/>
              <a:rect l="l" t="t" r="r" b="b"/>
              <a:pathLst>
                <a:path w="4267200" h="749301">
                  <a:moveTo>
                    <a:pt x="0" y="0"/>
                  </a:moveTo>
                  <a:lnTo>
                    <a:pt x="4267200" y="0"/>
                  </a:lnTo>
                  <a:lnTo>
                    <a:pt x="4267200" y="749301"/>
                  </a:lnTo>
                  <a:lnTo>
                    <a:pt x="0" y="749301"/>
                  </a:lnTo>
                  <a:close/>
                </a:path>
              </a:pathLst>
            </a:custGeom>
            <a:solidFill>
              <a:srgbClr val="000000">
                <a:alpha val="0"/>
              </a:srgbClr>
            </a:solidFill>
          </p:spPr>
        </p:sp>
        <p:sp>
          <p:nvSpPr>
            <p:cNvPr id="16" name="TextBox 16"/>
            <p:cNvSpPr txBox="1"/>
            <p:nvPr/>
          </p:nvSpPr>
          <p:spPr>
            <a:xfrm>
              <a:off x="0" y="-19050"/>
              <a:ext cx="4267200" cy="768351"/>
            </a:xfrm>
            <a:prstGeom prst="rect">
              <a:avLst/>
            </a:prstGeom>
          </p:spPr>
          <p:txBody>
            <a:bodyPr lIns="0" tIns="0" rIns="0" bIns="0" rtlCol="0" anchor="ctr"/>
            <a:lstStyle/>
            <a:p>
              <a:pPr algn="r">
                <a:lnSpc>
                  <a:spcPts val="1890"/>
                </a:lnSpc>
              </a:pPr>
              <a:r>
                <a:rPr lang="en-US" sz="1575">
                  <a:solidFill>
                    <a:srgbClr val="888888"/>
                  </a:solidFill>
                  <a:latin typeface="Calibri (MS)" panose="020F0502020204030204"/>
                  <a:ea typeface="Calibri (MS)" panose="020F0502020204030204"/>
                  <a:cs typeface="Calibri (MS)" panose="020F0502020204030204"/>
                  <a:sym typeface="Calibri (MS)" panose="020F0502020204030204"/>
                </a:rPr>
                <a:t>2</a:t>
              </a:r>
            </a:p>
          </p:txBody>
        </p:sp>
      </p:grpSp>
      <p:sp>
        <p:nvSpPr>
          <p:cNvPr id="17" name="TextBox 17"/>
          <p:cNvSpPr txBox="1"/>
          <p:nvPr/>
        </p:nvSpPr>
        <p:spPr>
          <a:xfrm>
            <a:off x="5802390" y="1681239"/>
            <a:ext cx="6683220" cy="1517275"/>
          </a:xfrm>
          <a:prstGeom prst="rect">
            <a:avLst/>
          </a:prstGeom>
        </p:spPr>
        <p:txBody>
          <a:bodyPr lIns="0" tIns="0" rIns="0" bIns="0" rtlCol="0" anchor="t">
            <a:spAutoFit/>
          </a:bodyPr>
          <a:lstStyle/>
          <a:p>
            <a:pPr algn="ctr">
              <a:lnSpc>
                <a:spcPts val="12880"/>
              </a:lnSpc>
            </a:pPr>
            <a:r>
              <a:rPr lang="en-US" sz="9200" b="1" dirty="0">
                <a:solidFill>
                  <a:srgbClr val="000000"/>
                </a:solidFill>
                <a:latin typeface="Times New Roman" panose="02020603050405020304" pitchFamily="18" charset="0"/>
                <a:ea typeface="Calibri (MS) Bold" panose="020F0702030404030204"/>
                <a:cs typeface="Times New Roman" panose="02020603050405020304" pitchFamily="18" charset="0"/>
                <a:sym typeface="Calibri (MS) Bold" panose="020F0702030404030204"/>
              </a:rPr>
              <a:t>Tech Stack</a:t>
            </a:r>
          </a:p>
        </p:txBody>
      </p:sp>
      <p:sp>
        <p:nvSpPr>
          <p:cNvPr id="26" name="TextBox 25">
            <a:extLst>
              <a:ext uri="{FF2B5EF4-FFF2-40B4-BE49-F238E27FC236}">
                <a16:creationId xmlns:a16="http://schemas.microsoft.com/office/drawing/2014/main" xmlns="" id="{BCEA3941-649D-AF7C-9B07-1B2FA02E1A35}"/>
              </a:ext>
            </a:extLst>
          </p:cNvPr>
          <p:cNvSpPr txBox="1"/>
          <p:nvPr/>
        </p:nvSpPr>
        <p:spPr>
          <a:xfrm>
            <a:off x="1981200" y="3980055"/>
            <a:ext cx="14630400" cy="3385542"/>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We used Python to build an emergent AI data-collection agent.</a:t>
            </a: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The system simulates a silver market with multiple data sources, each having different costs and behaviors. An autonomous agent observes changes in the market and decides when data is worth collecting based on volatility, freshness, and cost.</a:t>
            </a:r>
          </a:p>
          <a:p>
            <a:pPr algn="ctr"/>
            <a:r>
              <a:rPr lang="en-US" sz="2800" b="1" dirty="0">
                <a:latin typeface="Times New Roman" panose="02020603050405020304" pitchFamily="18" charset="0"/>
                <a:cs typeface="Times New Roman" panose="02020603050405020304" pitchFamily="18" charset="0"/>
              </a:rPr>
              <a:t>The agent’s intelligence emerges from its interaction with the environment—it saves money during stable periods and reacts instantly during sudden market spikes. All actions are logged in CSV files and the system runs in real time</a:t>
            </a:r>
            <a:r>
              <a:rPr lang="en-US" sz="2800" b="1" dirty="0"/>
              <a:t>.</a:t>
            </a:r>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058900" y="9415306"/>
            <a:ext cx="3200400" cy="561938"/>
            <a:chOff x="0" y="0"/>
            <a:chExt cx="4267200" cy="749250"/>
          </a:xfrm>
        </p:grpSpPr>
        <p:sp>
          <p:nvSpPr>
            <p:cNvPr id="3" name="Freeform 3"/>
            <p:cNvSpPr/>
            <p:nvPr/>
          </p:nvSpPr>
          <p:spPr>
            <a:xfrm>
              <a:off x="0" y="0"/>
              <a:ext cx="4267200" cy="749250"/>
            </a:xfrm>
            <a:custGeom>
              <a:avLst/>
              <a:gdLst/>
              <a:ahLst/>
              <a:cxnLst/>
              <a:rect l="l" t="t" r="r" b="b"/>
              <a:pathLst>
                <a:path w="4267200" h="749250">
                  <a:moveTo>
                    <a:pt x="0" y="0"/>
                  </a:moveTo>
                  <a:lnTo>
                    <a:pt x="4267200" y="0"/>
                  </a:lnTo>
                  <a:lnTo>
                    <a:pt x="4267200" y="749250"/>
                  </a:lnTo>
                  <a:lnTo>
                    <a:pt x="0" y="749250"/>
                  </a:lnTo>
                  <a:close/>
                </a:path>
              </a:pathLst>
            </a:custGeom>
            <a:solidFill>
              <a:srgbClr val="000000">
                <a:alpha val="0"/>
              </a:srgbClr>
            </a:solidFill>
          </p:spPr>
        </p:sp>
        <p:sp>
          <p:nvSpPr>
            <p:cNvPr id="4" name="TextBox 4"/>
            <p:cNvSpPr txBox="1"/>
            <p:nvPr/>
          </p:nvSpPr>
          <p:spPr>
            <a:xfrm>
              <a:off x="0" y="-19050"/>
              <a:ext cx="4267200" cy="768300"/>
            </a:xfrm>
            <a:prstGeom prst="rect">
              <a:avLst/>
            </a:prstGeom>
          </p:spPr>
          <p:txBody>
            <a:bodyPr lIns="0" tIns="0" rIns="0" bIns="0" rtlCol="0" anchor="ctr"/>
            <a:lstStyle/>
            <a:p>
              <a:pPr algn="r">
                <a:lnSpc>
                  <a:spcPts val="1890"/>
                </a:lnSpc>
              </a:pPr>
              <a:r>
                <a:rPr lang="en-US" sz="1575">
                  <a:solidFill>
                    <a:srgbClr val="888888"/>
                  </a:solidFill>
                  <a:latin typeface="Calibri (MS)" panose="020F0502020204030204"/>
                  <a:ea typeface="Calibri (MS)" panose="020F0502020204030204"/>
                  <a:cs typeface="Calibri (MS)" panose="020F0502020204030204"/>
                  <a:sym typeface="Calibri (MS)" panose="020F0502020204030204"/>
                </a:rPr>
                <a:t>5</a:t>
              </a:r>
            </a:p>
          </p:txBody>
        </p:sp>
      </p:grpSp>
      <p:grpSp>
        <p:nvGrpSpPr>
          <p:cNvPr id="5" name="Group 5"/>
          <p:cNvGrpSpPr/>
          <p:nvPr/>
        </p:nvGrpSpPr>
        <p:grpSpPr>
          <a:xfrm>
            <a:off x="-9525" y="-38100"/>
            <a:ext cx="18335982" cy="1879438"/>
            <a:chOff x="0" y="0"/>
            <a:chExt cx="24447976" cy="2505917"/>
          </a:xfrm>
        </p:grpSpPr>
        <p:sp>
          <p:nvSpPr>
            <p:cNvPr id="6" name="Freeform 6"/>
            <p:cNvSpPr/>
            <p:nvPr/>
          </p:nvSpPr>
          <p:spPr>
            <a:xfrm>
              <a:off x="0" y="0"/>
              <a:ext cx="24448008" cy="2505964"/>
            </a:xfrm>
            <a:custGeom>
              <a:avLst/>
              <a:gdLst/>
              <a:ahLst/>
              <a:cxnLst/>
              <a:rect l="l" t="t" r="r" b="b"/>
              <a:pathLst>
                <a:path w="24448008" h="2505964">
                  <a:moveTo>
                    <a:pt x="0" y="0"/>
                  </a:moveTo>
                  <a:lnTo>
                    <a:pt x="24448008" y="0"/>
                  </a:lnTo>
                  <a:lnTo>
                    <a:pt x="24448008" y="2505964"/>
                  </a:lnTo>
                  <a:lnTo>
                    <a:pt x="0" y="2505964"/>
                  </a:lnTo>
                  <a:lnTo>
                    <a:pt x="0" y="0"/>
                  </a:lnTo>
                  <a:close/>
                </a:path>
              </a:pathLst>
            </a:custGeom>
            <a:solidFill>
              <a:srgbClr val="000000">
                <a:alpha val="0"/>
              </a:srgbClr>
            </a:solidFill>
            <a:ln w="12700">
              <a:solidFill>
                <a:srgbClr val="000000"/>
              </a:solidFill>
            </a:ln>
          </p:spPr>
        </p:sp>
      </p:grpSp>
      <p:grpSp>
        <p:nvGrpSpPr>
          <p:cNvPr id="7" name="Group 7"/>
          <p:cNvGrpSpPr/>
          <p:nvPr/>
        </p:nvGrpSpPr>
        <p:grpSpPr>
          <a:xfrm>
            <a:off x="-76962" y="-38100"/>
            <a:ext cx="18488728" cy="1966385"/>
            <a:chOff x="0" y="0"/>
            <a:chExt cx="24651637" cy="2621846"/>
          </a:xfrm>
        </p:grpSpPr>
        <p:sp>
          <p:nvSpPr>
            <p:cNvPr id="8" name="Freeform 8"/>
            <p:cNvSpPr/>
            <p:nvPr/>
          </p:nvSpPr>
          <p:spPr>
            <a:xfrm>
              <a:off x="0" y="0"/>
              <a:ext cx="24651637" cy="2491235"/>
            </a:xfrm>
            <a:custGeom>
              <a:avLst/>
              <a:gdLst/>
              <a:ahLst/>
              <a:cxnLst/>
              <a:rect l="l" t="t" r="r" b="b"/>
              <a:pathLst>
                <a:path w="24651637" h="2491235">
                  <a:moveTo>
                    <a:pt x="0" y="0"/>
                  </a:moveTo>
                  <a:lnTo>
                    <a:pt x="24651637" y="0"/>
                  </a:lnTo>
                  <a:lnTo>
                    <a:pt x="24651637" y="2491235"/>
                  </a:lnTo>
                  <a:lnTo>
                    <a:pt x="0" y="2491235"/>
                  </a:lnTo>
                  <a:lnTo>
                    <a:pt x="0" y="0"/>
                  </a:lnTo>
                  <a:close/>
                </a:path>
              </a:pathLst>
            </a:custGeom>
            <a:blipFill>
              <a:blip r:embed="rId2"/>
              <a:stretch>
                <a:fillRect t="-442" b="-442"/>
              </a:stretch>
            </a:blipFill>
          </p:spPr>
        </p:sp>
        <p:sp>
          <p:nvSpPr>
            <p:cNvPr id="9" name="Freeform 9"/>
            <p:cNvSpPr/>
            <p:nvPr/>
          </p:nvSpPr>
          <p:spPr>
            <a:xfrm>
              <a:off x="20688757" y="0"/>
              <a:ext cx="3962880" cy="2621846"/>
            </a:xfrm>
            <a:custGeom>
              <a:avLst/>
              <a:gdLst/>
              <a:ahLst/>
              <a:cxnLst/>
              <a:rect l="l" t="t" r="r" b="b"/>
              <a:pathLst>
                <a:path w="3962880" h="2621846">
                  <a:moveTo>
                    <a:pt x="0" y="0"/>
                  </a:moveTo>
                  <a:lnTo>
                    <a:pt x="3962880" y="0"/>
                  </a:lnTo>
                  <a:lnTo>
                    <a:pt x="3962880" y="2621846"/>
                  </a:lnTo>
                  <a:lnTo>
                    <a:pt x="0" y="2621846"/>
                  </a:lnTo>
                  <a:lnTo>
                    <a:pt x="0" y="0"/>
                  </a:lnTo>
                  <a:close/>
                </a:path>
              </a:pathLst>
            </a:custGeom>
            <a:blipFill>
              <a:blip r:embed="rId3"/>
              <a:stretch>
                <a:fillRect t="-442" b="-442"/>
              </a:stretch>
            </a:blipFill>
          </p:spPr>
        </p:sp>
      </p:grpSp>
      <p:sp>
        <p:nvSpPr>
          <p:cNvPr id="10" name="Freeform 10"/>
          <p:cNvSpPr/>
          <p:nvPr/>
        </p:nvSpPr>
        <p:spPr>
          <a:xfrm>
            <a:off x="-9525" y="10149893"/>
            <a:ext cx="18336006" cy="146589"/>
          </a:xfrm>
          <a:custGeom>
            <a:avLst/>
            <a:gdLst/>
            <a:ahLst/>
            <a:cxnLst/>
            <a:rect l="l" t="t" r="r" b="b"/>
            <a:pathLst>
              <a:path w="18336006" h="146589">
                <a:moveTo>
                  <a:pt x="0" y="0"/>
                </a:moveTo>
                <a:lnTo>
                  <a:pt x="18336006" y="0"/>
                </a:lnTo>
                <a:lnTo>
                  <a:pt x="18336006" y="146589"/>
                </a:lnTo>
                <a:lnTo>
                  <a:pt x="0" y="146589"/>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grpSp>
        <p:nvGrpSpPr>
          <p:cNvPr id="11" name="Group 11"/>
          <p:cNvGrpSpPr/>
          <p:nvPr/>
        </p:nvGrpSpPr>
        <p:grpSpPr>
          <a:xfrm>
            <a:off x="1257300" y="9505950"/>
            <a:ext cx="4114800" cy="576263"/>
            <a:chOff x="0" y="0"/>
            <a:chExt cx="5486400" cy="768351"/>
          </a:xfrm>
        </p:grpSpPr>
        <p:sp>
          <p:nvSpPr>
            <p:cNvPr id="12" name="Freeform 12"/>
            <p:cNvSpPr/>
            <p:nvPr/>
          </p:nvSpPr>
          <p:spPr>
            <a:xfrm>
              <a:off x="0" y="0"/>
              <a:ext cx="5486400" cy="768351"/>
            </a:xfrm>
            <a:custGeom>
              <a:avLst/>
              <a:gdLst/>
              <a:ahLst/>
              <a:cxnLst/>
              <a:rect l="l" t="t" r="r" b="b"/>
              <a:pathLst>
                <a:path w="5486400" h="768351">
                  <a:moveTo>
                    <a:pt x="0" y="0"/>
                  </a:moveTo>
                  <a:lnTo>
                    <a:pt x="5486400" y="0"/>
                  </a:lnTo>
                  <a:lnTo>
                    <a:pt x="5486400" y="768351"/>
                  </a:lnTo>
                  <a:lnTo>
                    <a:pt x="0" y="768351"/>
                  </a:lnTo>
                  <a:close/>
                </a:path>
              </a:pathLst>
            </a:custGeom>
            <a:solidFill>
              <a:srgbClr val="000000">
                <a:alpha val="0"/>
              </a:srgbClr>
            </a:solidFill>
          </p:spPr>
        </p:sp>
        <p:sp>
          <p:nvSpPr>
            <p:cNvPr id="13" name="TextBox 13"/>
            <p:cNvSpPr txBox="1"/>
            <p:nvPr/>
          </p:nvSpPr>
          <p:spPr>
            <a:xfrm>
              <a:off x="0" y="-38100"/>
              <a:ext cx="5486400" cy="806451"/>
            </a:xfrm>
            <a:prstGeom prst="rect">
              <a:avLst/>
            </a:prstGeom>
          </p:spPr>
          <p:txBody>
            <a:bodyPr lIns="0" tIns="0" rIns="0" bIns="0" rtlCol="0" anchor="ctr"/>
            <a:lstStyle/>
            <a:p>
              <a:pPr algn="l">
                <a:lnSpc>
                  <a:spcPts val="2160"/>
                </a:lnSpc>
              </a:pPr>
              <a:r>
                <a:rPr lang="en-US" sz="1800">
                  <a:solidFill>
                    <a:srgbClr val="898989"/>
                  </a:solidFill>
                  <a:latin typeface="Calibri (MS)" panose="020F0502020204030204"/>
                  <a:ea typeface="Calibri (MS)" panose="020F0502020204030204"/>
                  <a:cs typeface="Calibri (MS)" panose="020F0502020204030204"/>
                  <a:sym typeface="Calibri (MS)" panose="020F0502020204030204"/>
                </a:rPr>
                <a:t>1/24/2026</a:t>
              </a:r>
            </a:p>
          </p:txBody>
        </p:sp>
      </p:grpSp>
      <p:grpSp>
        <p:nvGrpSpPr>
          <p:cNvPr id="14" name="Group 14"/>
          <p:cNvGrpSpPr/>
          <p:nvPr/>
        </p:nvGrpSpPr>
        <p:grpSpPr>
          <a:xfrm>
            <a:off x="11772900" y="10117531"/>
            <a:ext cx="3200400" cy="561976"/>
            <a:chOff x="0" y="0"/>
            <a:chExt cx="4267200" cy="749301"/>
          </a:xfrm>
        </p:grpSpPr>
        <p:sp>
          <p:nvSpPr>
            <p:cNvPr id="15" name="Freeform 15"/>
            <p:cNvSpPr/>
            <p:nvPr/>
          </p:nvSpPr>
          <p:spPr>
            <a:xfrm>
              <a:off x="0" y="0"/>
              <a:ext cx="4267200" cy="749301"/>
            </a:xfrm>
            <a:custGeom>
              <a:avLst/>
              <a:gdLst/>
              <a:ahLst/>
              <a:cxnLst/>
              <a:rect l="l" t="t" r="r" b="b"/>
              <a:pathLst>
                <a:path w="4267200" h="749301">
                  <a:moveTo>
                    <a:pt x="0" y="0"/>
                  </a:moveTo>
                  <a:lnTo>
                    <a:pt x="4267200" y="0"/>
                  </a:lnTo>
                  <a:lnTo>
                    <a:pt x="4267200" y="749301"/>
                  </a:lnTo>
                  <a:lnTo>
                    <a:pt x="0" y="749301"/>
                  </a:lnTo>
                  <a:close/>
                </a:path>
              </a:pathLst>
            </a:custGeom>
            <a:solidFill>
              <a:srgbClr val="000000">
                <a:alpha val="0"/>
              </a:srgbClr>
            </a:solidFill>
          </p:spPr>
        </p:sp>
        <p:sp>
          <p:nvSpPr>
            <p:cNvPr id="16" name="TextBox 16"/>
            <p:cNvSpPr txBox="1"/>
            <p:nvPr/>
          </p:nvSpPr>
          <p:spPr>
            <a:xfrm>
              <a:off x="0" y="-19050"/>
              <a:ext cx="4267200" cy="768351"/>
            </a:xfrm>
            <a:prstGeom prst="rect">
              <a:avLst/>
            </a:prstGeom>
          </p:spPr>
          <p:txBody>
            <a:bodyPr lIns="0" tIns="0" rIns="0" bIns="0" rtlCol="0" anchor="ctr"/>
            <a:lstStyle/>
            <a:p>
              <a:pPr algn="r">
                <a:lnSpc>
                  <a:spcPts val="1890"/>
                </a:lnSpc>
              </a:pPr>
              <a:r>
                <a:rPr lang="en-US" sz="1575">
                  <a:solidFill>
                    <a:srgbClr val="888888"/>
                  </a:solidFill>
                  <a:latin typeface="Calibri (MS)" panose="020F0502020204030204"/>
                  <a:ea typeface="Calibri (MS)" panose="020F0502020204030204"/>
                  <a:cs typeface="Calibri (MS)" panose="020F0502020204030204"/>
                  <a:sym typeface="Calibri (MS)" panose="020F0502020204030204"/>
                </a:rPr>
                <a:t>2</a:t>
              </a:r>
            </a:p>
          </p:txBody>
        </p:sp>
      </p:grpSp>
      <p:sp>
        <p:nvSpPr>
          <p:cNvPr id="17" name="TextBox 17"/>
          <p:cNvSpPr txBox="1"/>
          <p:nvPr/>
        </p:nvSpPr>
        <p:spPr>
          <a:xfrm>
            <a:off x="2682113" y="1869948"/>
            <a:ext cx="12700755" cy="1517275"/>
          </a:xfrm>
          <a:prstGeom prst="rect">
            <a:avLst/>
          </a:prstGeom>
        </p:spPr>
        <p:txBody>
          <a:bodyPr wrap="square" lIns="0" tIns="0" rIns="0" bIns="0" rtlCol="0" anchor="t">
            <a:spAutoFit/>
          </a:bodyPr>
          <a:lstStyle/>
          <a:p>
            <a:pPr algn="ctr">
              <a:lnSpc>
                <a:spcPts val="12880"/>
              </a:lnSpc>
            </a:pPr>
            <a:r>
              <a:rPr lang="en-US" sz="9200" b="1" dirty="0">
                <a:solidFill>
                  <a:srgbClr val="000000"/>
                </a:solidFill>
                <a:latin typeface="Times New Roman" panose="02020603050405020304" pitchFamily="18" charset="0"/>
                <a:ea typeface="Calibri (MS) Bold" panose="020F0702030404030204"/>
                <a:cs typeface="Times New Roman" panose="02020603050405020304" pitchFamily="18" charset="0"/>
                <a:sym typeface="Calibri (MS) Bold" panose="020F0702030404030204"/>
              </a:rPr>
              <a:t>Technical Architecture</a:t>
            </a:r>
          </a:p>
        </p:txBody>
      </p:sp>
      <p:sp>
        <p:nvSpPr>
          <p:cNvPr id="26" name="TextBox 25">
            <a:extLst>
              <a:ext uri="{FF2B5EF4-FFF2-40B4-BE49-F238E27FC236}">
                <a16:creationId xmlns:a16="http://schemas.microsoft.com/office/drawing/2014/main" xmlns="" id="{4DC13DEA-1F03-8F64-5941-ED92407A6471}"/>
              </a:ext>
            </a:extLst>
          </p:cNvPr>
          <p:cNvSpPr txBox="1"/>
          <p:nvPr/>
        </p:nvSpPr>
        <p:spPr>
          <a:xfrm>
            <a:off x="3150061" y="3748140"/>
            <a:ext cx="11881618" cy="6401753"/>
          </a:xfrm>
          <a:prstGeom prst="rect">
            <a:avLst/>
          </a:prstGeom>
          <a:noFill/>
        </p:spPr>
        <p:txBody>
          <a:bodyPr wrap="square" rtlCol="0">
            <a:spAutoFit/>
          </a:bodyPr>
          <a:lstStyle/>
          <a:p>
            <a:pPr marL="342900" indent="-342900" algn="ctr">
              <a:buFont typeface="Arial" panose="020B0604020202020204" pitchFamily="34" charset="0"/>
              <a:buChar char="•"/>
            </a:pPr>
            <a:r>
              <a:rPr lang="en-IN" sz="2800" b="1" dirty="0">
                <a:latin typeface="Times New Roman" panose="02020603050405020304" pitchFamily="18" charset="0"/>
                <a:cs typeface="Times New Roman" panose="02020603050405020304" pitchFamily="18" charset="0"/>
              </a:rPr>
              <a:t>Environment Layer</a:t>
            </a:r>
            <a:r>
              <a:rPr lang="en-IN" sz="2800" dirty="0">
                <a:latin typeface="Times New Roman" panose="02020603050405020304" pitchFamily="18" charset="0"/>
                <a:cs typeface="Times New Roman" panose="02020603050405020304" pitchFamily="18" charset="0"/>
              </a:rPr>
              <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Simulates silver market </a:t>
            </a:r>
            <a:r>
              <a:rPr lang="en-IN" sz="2800" dirty="0" err="1">
                <a:latin typeface="Times New Roman" panose="02020603050405020304" pitchFamily="18" charset="0"/>
                <a:cs typeface="Times New Roman" panose="02020603050405020304" pitchFamily="18" charset="0"/>
              </a:rPr>
              <a:t>behavior</a:t>
            </a:r>
            <a:r>
              <a:rPr lang="en-IN" sz="2800" dirty="0">
                <a:latin typeface="Times New Roman" panose="02020603050405020304" pitchFamily="18" charset="0"/>
                <a:cs typeface="Times New Roman" panose="02020603050405020304" pitchFamily="18" charset="0"/>
              </a:rPr>
              <a:t> and exposes data sources via an API</a:t>
            </a:r>
          </a:p>
          <a:p>
            <a:pPr algn="ctr"/>
            <a:endParaRPr lang="en-IN" sz="2800" dirty="0">
              <a:latin typeface="Times New Roman" panose="02020603050405020304" pitchFamily="18" charset="0"/>
              <a:cs typeface="Times New Roman" panose="02020603050405020304" pitchFamily="18" charset="0"/>
            </a:endParaRPr>
          </a:p>
          <a:p>
            <a:pPr marL="342900" indent="-342900" algn="ctr">
              <a:buFont typeface="Arial" panose="020B0604020202020204" pitchFamily="34" charset="0"/>
              <a:buChar char="•"/>
            </a:pPr>
            <a:r>
              <a:rPr lang="en-IN" sz="2800" b="1" dirty="0">
                <a:latin typeface="Times New Roman" panose="02020603050405020304" pitchFamily="18" charset="0"/>
                <a:cs typeface="Times New Roman" panose="02020603050405020304" pitchFamily="18" charset="0"/>
              </a:rPr>
              <a:t>Agent Brain Layer</a:t>
            </a:r>
            <a:r>
              <a:rPr lang="en-IN" sz="2800" dirty="0">
                <a:latin typeface="Times New Roman" panose="02020603050405020304" pitchFamily="18" charset="0"/>
                <a:cs typeface="Times New Roman" panose="02020603050405020304" pitchFamily="18" charset="0"/>
              </a:rPr>
              <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Evaluates volatility, freshness, and cost to make collection decisions</a:t>
            </a:r>
          </a:p>
          <a:p>
            <a:pPr algn="ctr"/>
            <a:endParaRPr lang="en-IN" sz="2800" dirty="0">
              <a:latin typeface="Times New Roman" panose="02020603050405020304" pitchFamily="18" charset="0"/>
              <a:cs typeface="Times New Roman" panose="02020603050405020304" pitchFamily="18" charset="0"/>
            </a:endParaRPr>
          </a:p>
          <a:p>
            <a:pPr marL="342900" indent="-342900" algn="ctr">
              <a:buFont typeface="Arial" panose="020B0604020202020204" pitchFamily="34" charset="0"/>
              <a:buChar char="•"/>
            </a:pPr>
            <a:r>
              <a:rPr lang="en-IN" sz="2800" b="1" dirty="0">
                <a:latin typeface="Times New Roman" panose="02020603050405020304" pitchFamily="18" charset="0"/>
                <a:cs typeface="Times New Roman" panose="02020603050405020304" pitchFamily="18" charset="0"/>
              </a:rPr>
              <a:t>Integration / Control Loop</a:t>
            </a:r>
            <a:r>
              <a:rPr lang="en-IN" sz="2800" dirty="0">
                <a:latin typeface="Times New Roman" panose="02020603050405020304" pitchFamily="18" charset="0"/>
                <a:cs typeface="Times New Roman" panose="02020603050405020304" pitchFamily="18" charset="0"/>
              </a:rPr>
              <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Advances time, invokes agent logic, and selectively collects data</a:t>
            </a:r>
          </a:p>
          <a:p>
            <a:pPr algn="ctr"/>
            <a:endParaRPr lang="en-IN" sz="2800" dirty="0">
              <a:latin typeface="Times New Roman" panose="02020603050405020304" pitchFamily="18" charset="0"/>
              <a:cs typeface="Times New Roman" panose="02020603050405020304" pitchFamily="18" charset="0"/>
            </a:endParaRPr>
          </a:p>
          <a:p>
            <a:pPr marL="342900" indent="-342900" algn="ctr">
              <a:buFont typeface="Arial" panose="020B0604020202020204" pitchFamily="34" charset="0"/>
              <a:buChar char="•"/>
            </a:pPr>
            <a:r>
              <a:rPr lang="en-IN" sz="2800" b="1" dirty="0">
                <a:latin typeface="Times New Roman" panose="02020603050405020304" pitchFamily="18" charset="0"/>
                <a:cs typeface="Times New Roman" panose="02020603050405020304" pitchFamily="18" charset="0"/>
              </a:rPr>
              <a:t>Data Logging Layer</a:t>
            </a:r>
            <a:r>
              <a:rPr lang="en-IN" sz="2800" dirty="0">
                <a:latin typeface="Times New Roman" panose="02020603050405020304" pitchFamily="18" charset="0"/>
                <a:cs typeface="Times New Roman" panose="02020603050405020304" pitchFamily="18" charset="0"/>
              </a:rPr>
              <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Stores market history, agent decisions, and budget usage (CSV)</a:t>
            </a:r>
          </a:p>
          <a:p>
            <a:pPr algn="ctr"/>
            <a:endParaRPr lang="en-IN" sz="2800" dirty="0">
              <a:latin typeface="Times New Roman" panose="02020603050405020304" pitchFamily="18" charset="0"/>
              <a:cs typeface="Times New Roman" panose="02020603050405020304" pitchFamily="18" charset="0"/>
            </a:endParaRPr>
          </a:p>
          <a:p>
            <a:pPr algn="ctr"/>
            <a:r>
              <a:rPr lang="en-IN" sz="2800" b="1" dirty="0">
                <a:latin typeface="Times New Roman" panose="02020603050405020304" pitchFamily="18" charset="0"/>
                <a:cs typeface="Times New Roman" panose="02020603050405020304" pitchFamily="18" charset="0"/>
              </a:rPr>
              <a:t>Flow:</a:t>
            </a:r>
            <a:r>
              <a:rPr lang="en-IN" sz="2800" dirty="0">
                <a:latin typeface="Times New Roman" panose="02020603050405020304" pitchFamily="18" charset="0"/>
                <a:cs typeface="Times New Roman" panose="02020603050405020304" pitchFamily="18" charset="0"/>
              </a:rPr>
              <a:t/>
            </a:r>
            <a:br>
              <a:rPr lang="en-IN" sz="2800" dirty="0">
                <a:latin typeface="Times New Roman" panose="02020603050405020304" pitchFamily="18" charset="0"/>
                <a:cs typeface="Times New Roman" panose="02020603050405020304" pitchFamily="18" charset="0"/>
              </a:rPr>
            </a:br>
            <a:r>
              <a:rPr lang="en-IN" sz="2800" i="1" dirty="0">
                <a:latin typeface="Times New Roman" panose="02020603050405020304" pitchFamily="18" charset="0"/>
                <a:cs typeface="Times New Roman" panose="02020603050405020304" pitchFamily="18" charset="0"/>
              </a:rPr>
              <a:t>Simulated Market → Agent Decision → Selective Collection → Logs → Repeat</a:t>
            </a:r>
            <a:endParaRPr lang="en-IN" sz="2800"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058900" y="9415306"/>
            <a:ext cx="3200400" cy="561938"/>
            <a:chOff x="0" y="0"/>
            <a:chExt cx="4267200" cy="749250"/>
          </a:xfrm>
        </p:grpSpPr>
        <p:sp>
          <p:nvSpPr>
            <p:cNvPr id="3" name="Freeform 3"/>
            <p:cNvSpPr/>
            <p:nvPr/>
          </p:nvSpPr>
          <p:spPr>
            <a:xfrm>
              <a:off x="0" y="0"/>
              <a:ext cx="4267200" cy="749250"/>
            </a:xfrm>
            <a:custGeom>
              <a:avLst/>
              <a:gdLst/>
              <a:ahLst/>
              <a:cxnLst/>
              <a:rect l="l" t="t" r="r" b="b"/>
              <a:pathLst>
                <a:path w="4267200" h="749250">
                  <a:moveTo>
                    <a:pt x="0" y="0"/>
                  </a:moveTo>
                  <a:lnTo>
                    <a:pt x="4267200" y="0"/>
                  </a:lnTo>
                  <a:lnTo>
                    <a:pt x="4267200" y="749250"/>
                  </a:lnTo>
                  <a:lnTo>
                    <a:pt x="0" y="749250"/>
                  </a:lnTo>
                  <a:close/>
                </a:path>
              </a:pathLst>
            </a:custGeom>
            <a:solidFill>
              <a:srgbClr val="000000">
                <a:alpha val="0"/>
              </a:srgbClr>
            </a:solidFill>
          </p:spPr>
        </p:sp>
        <p:sp>
          <p:nvSpPr>
            <p:cNvPr id="4" name="TextBox 4"/>
            <p:cNvSpPr txBox="1"/>
            <p:nvPr/>
          </p:nvSpPr>
          <p:spPr>
            <a:xfrm>
              <a:off x="0" y="-19050"/>
              <a:ext cx="4267200" cy="768300"/>
            </a:xfrm>
            <a:prstGeom prst="rect">
              <a:avLst/>
            </a:prstGeom>
          </p:spPr>
          <p:txBody>
            <a:bodyPr lIns="0" tIns="0" rIns="0" bIns="0" rtlCol="0" anchor="ctr"/>
            <a:lstStyle/>
            <a:p>
              <a:pPr algn="r">
                <a:lnSpc>
                  <a:spcPts val="1890"/>
                </a:lnSpc>
              </a:pPr>
              <a:r>
                <a:rPr lang="en-US" sz="1575">
                  <a:solidFill>
                    <a:srgbClr val="888888"/>
                  </a:solidFill>
                  <a:latin typeface="Calibri (MS)" panose="020F0502020204030204"/>
                  <a:ea typeface="Calibri (MS)" panose="020F0502020204030204"/>
                  <a:cs typeface="Calibri (MS)" panose="020F0502020204030204"/>
                  <a:sym typeface="Calibri (MS)" panose="020F0502020204030204"/>
                </a:rPr>
                <a:t>6</a:t>
              </a:r>
            </a:p>
          </p:txBody>
        </p:sp>
      </p:grpSp>
      <p:grpSp>
        <p:nvGrpSpPr>
          <p:cNvPr id="5" name="Group 5"/>
          <p:cNvGrpSpPr/>
          <p:nvPr/>
        </p:nvGrpSpPr>
        <p:grpSpPr>
          <a:xfrm>
            <a:off x="-9525" y="-38100"/>
            <a:ext cx="18335982" cy="1879438"/>
            <a:chOff x="0" y="0"/>
            <a:chExt cx="24447976" cy="2505917"/>
          </a:xfrm>
        </p:grpSpPr>
        <p:sp>
          <p:nvSpPr>
            <p:cNvPr id="6" name="Freeform 6"/>
            <p:cNvSpPr/>
            <p:nvPr/>
          </p:nvSpPr>
          <p:spPr>
            <a:xfrm>
              <a:off x="0" y="0"/>
              <a:ext cx="24448008" cy="2505964"/>
            </a:xfrm>
            <a:custGeom>
              <a:avLst/>
              <a:gdLst/>
              <a:ahLst/>
              <a:cxnLst/>
              <a:rect l="l" t="t" r="r" b="b"/>
              <a:pathLst>
                <a:path w="24448008" h="2505964">
                  <a:moveTo>
                    <a:pt x="0" y="0"/>
                  </a:moveTo>
                  <a:lnTo>
                    <a:pt x="24448008" y="0"/>
                  </a:lnTo>
                  <a:lnTo>
                    <a:pt x="24448008" y="2505964"/>
                  </a:lnTo>
                  <a:lnTo>
                    <a:pt x="0" y="2505964"/>
                  </a:lnTo>
                  <a:lnTo>
                    <a:pt x="0" y="0"/>
                  </a:lnTo>
                  <a:close/>
                </a:path>
              </a:pathLst>
            </a:custGeom>
            <a:solidFill>
              <a:srgbClr val="000000">
                <a:alpha val="0"/>
              </a:srgbClr>
            </a:solidFill>
            <a:ln w="12700">
              <a:solidFill>
                <a:srgbClr val="000000"/>
              </a:solidFill>
            </a:ln>
          </p:spPr>
        </p:sp>
      </p:grpSp>
      <p:grpSp>
        <p:nvGrpSpPr>
          <p:cNvPr id="7" name="Group 7"/>
          <p:cNvGrpSpPr/>
          <p:nvPr/>
        </p:nvGrpSpPr>
        <p:grpSpPr>
          <a:xfrm>
            <a:off x="-76962" y="-38100"/>
            <a:ext cx="18488728" cy="1966385"/>
            <a:chOff x="0" y="0"/>
            <a:chExt cx="24651637" cy="2621846"/>
          </a:xfrm>
        </p:grpSpPr>
        <p:sp>
          <p:nvSpPr>
            <p:cNvPr id="8" name="Freeform 8"/>
            <p:cNvSpPr/>
            <p:nvPr/>
          </p:nvSpPr>
          <p:spPr>
            <a:xfrm>
              <a:off x="0" y="0"/>
              <a:ext cx="24651637" cy="2491235"/>
            </a:xfrm>
            <a:custGeom>
              <a:avLst/>
              <a:gdLst/>
              <a:ahLst/>
              <a:cxnLst/>
              <a:rect l="l" t="t" r="r" b="b"/>
              <a:pathLst>
                <a:path w="24651637" h="2491235">
                  <a:moveTo>
                    <a:pt x="0" y="0"/>
                  </a:moveTo>
                  <a:lnTo>
                    <a:pt x="24651637" y="0"/>
                  </a:lnTo>
                  <a:lnTo>
                    <a:pt x="24651637" y="2491235"/>
                  </a:lnTo>
                  <a:lnTo>
                    <a:pt x="0" y="2491235"/>
                  </a:lnTo>
                  <a:lnTo>
                    <a:pt x="0" y="0"/>
                  </a:lnTo>
                  <a:close/>
                </a:path>
              </a:pathLst>
            </a:custGeom>
            <a:blipFill>
              <a:blip r:embed="rId2"/>
              <a:stretch>
                <a:fillRect t="-442" b="-442"/>
              </a:stretch>
            </a:blipFill>
          </p:spPr>
        </p:sp>
        <p:sp>
          <p:nvSpPr>
            <p:cNvPr id="9" name="Freeform 9"/>
            <p:cNvSpPr/>
            <p:nvPr/>
          </p:nvSpPr>
          <p:spPr>
            <a:xfrm>
              <a:off x="20688757" y="0"/>
              <a:ext cx="3962880" cy="2621846"/>
            </a:xfrm>
            <a:custGeom>
              <a:avLst/>
              <a:gdLst/>
              <a:ahLst/>
              <a:cxnLst/>
              <a:rect l="l" t="t" r="r" b="b"/>
              <a:pathLst>
                <a:path w="3962880" h="2621846">
                  <a:moveTo>
                    <a:pt x="0" y="0"/>
                  </a:moveTo>
                  <a:lnTo>
                    <a:pt x="3962880" y="0"/>
                  </a:lnTo>
                  <a:lnTo>
                    <a:pt x="3962880" y="2621846"/>
                  </a:lnTo>
                  <a:lnTo>
                    <a:pt x="0" y="2621846"/>
                  </a:lnTo>
                  <a:lnTo>
                    <a:pt x="0" y="0"/>
                  </a:lnTo>
                  <a:close/>
                </a:path>
              </a:pathLst>
            </a:custGeom>
            <a:blipFill>
              <a:blip r:embed="rId3"/>
              <a:stretch>
                <a:fillRect t="-442" b="-442"/>
              </a:stretch>
            </a:blipFill>
          </p:spPr>
        </p:sp>
      </p:grpSp>
      <p:sp>
        <p:nvSpPr>
          <p:cNvPr id="10" name="Freeform 10"/>
          <p:cNvSpPr/>
          <p:nvPr/>
        </p:nvSpPr>
        <p:spPr>
          <a:xfrm>
            <a:off x="-9525" y="10149893"/>
            <a:ext cx="18336006" cy="146589"/>
          </a:xfrm>
          <a:custGeom>
            <a:avLst/>
            <a:gdLst/>
            <a:ahLst/>
            <a:cxnLst/>
            <a:rect l="l" t="t" r="r" b="b"/>
            <a:pathLst>
              <a:path w="18336006" h="146589">
                <a:moveTo>
                  <a:pt x="0" y="0"/>
                </a:moveTo>
                <a:lnTo>
                  <a:pt x="18336006" y="0"/>
                </a:lnTo>
                <a:lnTo>
                  <a:pt x="18336006" y="146589"/>
                </a:lnTo>
                <a:lnTo>
                  <a:pt x="0" y="146589"/>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grpSp>
        <p:nvGrpSpPr>
          <p:cNvPr id="11" name="Group 11"/>
          <p:cNvGrpSpPr/>
          <p:nvPr/>
        </p:nvGrpSpPr>
        <p:grpSpPr>
          <a:xfrm>
            <a:off x="1257300" y="9505950"/>
            <a:ext cx="4114800" cy="576263"/>
            <a:chOff x="0" y="0"/>
            <a:chExt cx="5486400" cy="768351"/>
          </a:xfrm>
        </p:grpSpPr>
        <p:sp>
          <p:nvSpPr>
            <p:cNvPr id="12" name="Freeform 12"/>
            <p:cNvSpPr/>
            <p:nvPr/>
          </p:nvSpPr>
          <p:spPr>
            <a:xfrm>
              <a:off x="0" y="0"/>
              <a:ext cx="5486400" cy="768351"/>
            </a:xfrm>
            <a:custGeom>
              <a:avLst/>
              <a:gdLst/>
              <a:ahLst/>
              <a:cxnLst/>
              <a:rect l="l" t="t" r="r" b="b"/>
              <a:pathLst>
                <a:path w="5486400" h="768351">
                  <a:moveTo>
                    <a:pt x="0" y="0"/>
                  </a:moveTo>
                  <a:lnTo>
                    <a:pt x="5486400" y="0"/>
                  </a:lnTo>
                  <a:lnTo>
                    <a:pt x="5486400" y="768351"/>
                  </a:lnTo>
                  <a:lnTo>
                    <a:pt x="0" y="768351"/>
                  </a:lnTo>
                  <a:close/>
                </a:path>
              </a:pathLst>
            </a:custGeom>
            <a:solidFill>
              <a:srgbClr val="000000">
                <a:alpha val="0"/>
              </a:srgbClr>
            </a:solidFill>
          </p:spPr>
        </p:sp>
        <p:sp>
          <p:nvSpPr>
            <p:cNvPr id="13" name="TextBox 13"/>
            <p:cNvSpPr txBox="1"/>
            <p:nvPr/>
          </p:nvSpPr>
          <p:spPr>
            <a:xfrm>
              <a:off x="0" y="-38100"/>
              <a:ext cx="5486400" cy="806451"/>
            </a:xfrm>
            <a:prstGeom prst="rect">
              <a:avLst/>
            </a:prstGeom>
          </p:spPr>
          <p:txBody>
            <a:bodyPr lIns="0" tIns="0" rIns="0" bIns="0" rtlCol="0" anchor="ctr"/>
            <a:lstStyle/>
            <a:p>
              <a:pPr algn="l">
                <a:lnSpc>
                  <a:spcPts val="2160"/>
                </a:lnSpc>
              </a:pPr>
              <a:r>
                <a:rPr lang="en-US" sz="1800">
                  <a:solidFill>
                    <a:srgbClr val="898989"/>
                  </a:solidFill>
                  <a:latin typeface="Calibri (MS)" panose="020F0502020204030204"/>
                  <a:ea typeface="Calibri (MS)" panose="020F0502020204030204"/>
                  <a:cs typeface="Calibri (MS)" panose="020F0502020204030204"/>
                  <a:sym typeface="Calibri (MS)" panose="020F0502020204030204"/>
                </a:rPr>
                <a:t>1/24/2026</a:t>
              </a:r>
            </a:p>
          </p:txBody>
        </p:sp>
      </p:grpSp>
      <p:grpSp>
        <p:nvGrpSpPr>
          <p:cNvPr id="14" name="Group 14"/>
          <p:cNvGrpSpPr/>
          <p:nvPr/>
        </p:nvGrpSpPr>
        <p:grpSpPr>
          <a:xfrm>
            <a:off x="11772900" y="10117531"/>
            <a:ext cx="3200400" cy="561976"/>
            <a:chOff x="0" y="0"/>
            <a:chExt cx="4267200" cy="749301"/>
          </a:xfrm>
        </p:grpSpPr>
        <p:sp>
          <p:nvSpPr>
            <p:cNvPr id="15" name="Freeform 15"/>
            <p:cNvSpPr/>
            <p:nvPr/>
          </p:nvSpPr>
          <p:spPr>
            <a:xfrm>
              <a:off x="0" y="0"/>
              <a:ext cx="4267200" cy="749301"/>
            </a:xfrm>
            <a:custGeom>
              <a:avLst/>
              <a:gdLst/>
              <a:ahLst/>
              <a:cxnLst/>
              <a:rect l="l" t="t" r="r" b="b"/>
              <a:pathLst>
                <a:path w="4267200" h="749301">
                  <a:moveTo>
                    <a:pt x="0" y="0"/>
                  </a:moveTo>
                  <a:lnTo>
                    <a:pt x="4267200" y="0"/>
                  </a:lnTo>
                  <a:lnTo>
                    <a:pt x="4267200" y="749301"/>
                  </a:lnTo>
                  <a:lnTo>
                    <a:pt x="0" y="749301"/>
                  </a:lnTo>
                  <a:close/>
                </a:path>
              </a:pathLst>
            </a:custGeom>
            <a:solidFill>
              <a:srgbClr val="000000">
                <a:alpha val="0"/>
              </a:srgbClr>
            </a:solidFill>
          </p:spPr>
        </p:sp>
        <p:sp>
          <p:nvSpPr>
            <p:cNvPr id="16" name="TextBox 16"/>
            <p:cNvSpPr txBox="1"/>
            <p:nvPr/>
          </p:nvSpPr>
          <p:spPr>
            <a:xfrm>
              <a:off x="0" y="-19050"/>
              <a:ext cx="4267200" cy="768351"/>
            </a:xfrm>
            <a:prstGeom prst="rect">
              <a:avLst/>
            </a:prstGeom>
          </p:spPr>
          <p:txBody>
            <a:bodyPr lIns="0" tIns="0" rIns="0" bIns="0" rtlCol="0" anchor="ctr"/>
            <a:lstStyle/>
            <a:p>
              <a:pPr algn="r">
                <a:lnSpc>
                  <a:spcPts val="1890"/>
                </a:lnSpc>
              </a:pPr>
              <a:r>
                <a:rPr lang="en-US" sz="1575">
                  <a:solidFill>
                    <a:srgbClr val="888888"/>
                  </a:solidFill>
                  <a:latin typeface="Calibri (MS)" panose="020F0502020204030204"/>
                  <a:ea typeface="Calibri (MS)" panose="020F0502020204030204"/>
                  <a:cs typeface="Calibri (MS)" panose="020F0502020204030204"/>
                  <a:sym typeface="Calibri (MS)" panose="020F0502020204030204"/>
                </a:rPr>
                <a:t>2</a:t>
              </a:r>
            </a:p>
          </p:txBody>
        </p:sp>
      </p:grpSp>
      <p:sp>
        <p:nvSpPr>
          <p:cNvPr id="17" name="TextBox 17"/>
          <p:cNvSpPr txBox="1"/>
          <p:nvPr/>
        </p:nvSpPr>
        <p:spPr>
          <a:xfrm>
            <a:off x="3917274" y="1575860"/>
            <a:ext cx="10453453" cy="1747519"/>
          </a:xfrm>
          <a:prstGeom prst="rect">
            <a:avLst/>
          </a:prstGeom>
        </p:spPr>
        <p:txBody>
          <a:bodyPr lIns="0" tIns="0" rIns="0" bIns="0" rtlCol="0" anchor="t">
            <a:spAutoFit/>
          </a:bodyPr>
          <a:lstStyle/>
          <a:p>
            <a:pPr algn="ctr">
              <a:lnSpc>
                <a:spcPts val="12880"/>
              </a:lnSpc>
            </a:pPr>
            <a:r>
              <a:rPr lang="en-US" sz="9200" b="1">
                <a:solidFill>
                  <a:srgbClr val="000000"/>
                </a:solidFill>
                <a:latin typeface="Calibri (MS) Bold" panose="020F0702030404030204"/>
                <a:ea typeface="Calibri (MS) Bold" panose="020F0702030404030204"/>
                <a:cs typeface="Calibri (MS) Bold" panose="020F0702030404030204"/>
                <a:sym typeface="Calibri (MS) Bold" panose="020F0702030404030204"/>
              </a:rPr>
              <a:t>Key Features &amp; Demo</a:t>
            </a:r>
          </a:p>
        </p:txBody>
      </p:sp>
      <p:sp>
        <p:nvSpPr>
          <p:cNvPr id="26" name="TextBox 25">
            <a:extLst>
              <a:ext uri="{FF2B5EF4-FFF2-40B4-BE49-F238E27FC236}">
                <a16:creationId xmlns:a16="http://schemas.microsoft.com/office/drawing/2014/main" xmlns="" id="{91D0E40C-A62E-7085-502A-9C3A2AD84846}"/>
              </a:ext>
            </a:extLst>
          </p:cNvPr>
          <p:cNvSpPr txBox="1"/>
          <p:nvPr/>
        </p:nvSpPr>
        <p:spPr>
          <a:xfrm>
            <a:off x="3124200" y="3619500"/>
            <a:ext cx="12315406" cy="1661993"/>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Cost-aware monitoring:</a:t>
            </a:r>
            <a:r>
              <a:rPr lang="en-US" sz="2800" dirty="0">
                <a:latin typeface="Times New Roman" panose="02020603050405020304" pitchFamily="18" charset="0"/>
                <a:cs typeface="Times New Roman" panose="02020603050405020304" pitchFamily="18" charset="0"/>
              </a:rPr>
              <a:t> Checks expensive sources only when needed</a:t>
            </a:r>
          </a:p>
          <a:p>
            <a:pPr algn="ctr"/>
            <a:r>
              <a:rPr lang="en-US" sz="2800" b="1" dirty="0">
                <a:latin typeface="Times New Roman" panose="02020603050405020304" pitchFamily="18" charset="0"/>
                <a:cs typeface="Times New Roman" panose="02020603050405020304" pitchFamily="18" charset="0"/>
              </a:rPr>
              <a:t>Adaptive detection:</a:t>
            </a:r>
            <a:r>
              <a:rPr lang="en-US" sz="2800" dirty="0">
                <a:latin typeface="Times New Roman" panose="02020603050405020304" pitchFamily="18" charset="0"/>
                <a:cs typeface="Times New Roman" panose="02020603050405020304" pitchFamily="18" charset="0"/>
              </a:rPr>
              <a:t> Reacts instantly to sudden changes</a:t>
            </a:r>
          </a:p>
          <a:p>
            <a:pPr algn="ctr"/>
            <a:r>
              <a:rPr lang="en-US" sz="2800" b="1" dirty="0">
                <a:latin typeface="Times New Roman" panose="02020603050405020304" pitchFamily="18" charset="0"/>
                <a:cs typeface="Times New Roman" panose="02020603050405020304" pitchFamily="18" charset="0"/>
              </a:rPr>
              <a:t>Noise filtering:</a:t>
            </a:r>
            <a:r>
              <a:rPr lang="en-US" sz="2800" dirty="0">
                <a:latin typeface="Times New Roman" panose="02020603050405020304" pitchFamily="18" charset="0"/>
                <a:cs typeface="Times New Roman" panose="02020603050405020304" pitchFamily="18" charset="0"/>
              </a:rPr>
              <a:t> Ignores irrelevant or stable data</a:t>
            </a:r>
          </a:p>
          <a:p>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058900" y="9415306"/>
            <a:ext cx="3200400" cy="561938"/>
            <a:chOff x="0" y="0"/>
            <a:chExt cx="4267200" cy="749250"/>
          </a:xfrm>
        </p:grpSpPr>
        <p:sp>
          <p:nvSpPr>
            <p:cNvPr id="3" name="Freeform 3"/>
            <p:cNvSpPr/>
            <p:nvPr/>
          </p:nvSpPr>
          <p:spPr>
            <a:xfrm>
              <a:off x="0" y="0"/>
              <a:ext cx="4267200" cy="749250"/>
            </a:xfrm>
            <a:custGeom>
              <a:avLst/>
              <a:gdLst/>
              <a:ahLst/>
              <a:cxnLst/>
              <a:rect l="l" t="t" r="r" b="b"/>
              <a:pathLst>
                <a:path w="4267200" h="749250">
                  <a:moveTo>
                    <a:pt x="0" y="0"/>
                  </a:moveTo>
                  <a:lnTo>
                    <a:pt x="4267200" y="0"/>
                  </a:lnTo>
                  <a:lnTo>
                    <a:pt x="4267200" y="749250"/>
                  </a:lnTo>
                  <a:lnTo>
                    <a:pt x="0" y="749250"/>
                  </a:lnTo>
                  <a:close/>
                </a:path>
              </a:pathLst>
            </a:custGeom>
            <a:solidFill>
              <a:srgbClr val="000000">
                <a:alpha val="0"/>
              </a:srgbClr>
            </a:solidFill>
          </p:spPr>
        </p:sp>
        <p:sp>
          <p:nvSpPr>
            <p:cNvPr id="4" name="TextBox 4"/>
            <p:cNvSpPr txBox="1"/>
            <p:nvPr/>
          </p:nvSpPr>
          <p:spPr>
            <a:xfrm>
              <a:off x="0" y="-19050"/>
              <a:ext cx="4267200" cy="768300"/>
            </a:xfrm>
            <a:prstGeom prst="rect">
              <a:avLst/>
            </a:prstGeom>
          </p:spPr>
          <p:txBody>
            <a:bodyPr lIns="0" tIns="0" rIns="0" bIns="0" rtlCol="0" anchor="ctr"/>
            <a:lstStyle/>
            <a:p>
              <a:pPr algn="r">
                <a:lnSpc>
                  <a:spcPts val="1890"/>
                </a:lnSpc>
              </a:pPr>
              <a:r>
                <a:rPr lang="en-US" sz="1575">
                  <a:solidFill>
                    <a:srgbClr val="888888"/>
                  </a:solidFill>
                  <a:latin typeface="Calibri (MS)" panose="020F0502020204030204"/>
                  <a:ea typeface="Calibri (MS)" panose="020F0502020204030204"/>
                  <a:cs typeface="Calibri (MS)" panose="020F0502020204030204"/>
                  <a:sym typeface="Calibri (MS)" panose="020F0502020204030204"/>
                </a:rPr>
                <a:t>7</a:t>
              </a:r>
            </a:p>
          </p:txBody>
        </p:sp>
      </p:grpSp>
      <p:grpSp>
        <p:nvGrpSpPr>
          <p:cNvPr id="5" name="Group 5"/>
          <p:cNvGrpSpPr/>
          <p:nvPr/>
        </p:nvGrpSpPr>
        <p:grpSpPr>
          <a:xfrm>
            <a:off x="-9525" y="-38100"/>
            <a:ext cx="18335982" cy="1879438"/>
            <a:chOff x="0" y="0"/>
            <a:chExt cx="24447976" cy="2505917"/>
          </a:xfrm>
        </p:grpSpPr>
        <p:sp>
          <p:nvSpPr>
            <p:cNvPr id="6" name="Freeform 6"/>
            <p:cNvSpPr/>
            <p:nvPr/>
          </p:nvSpPr>
          <p:spPr>
            <a:xfrm>
              <a:off x="0" y="0"/>
              <a:ext cx="24448008" cy="2505964"/>
            </a:xfrm>
            <a:custGeom>
              <a:avLst/>
              <a:gdLst/>
              <a:ahLst/>
              <a:cxnLst/>
              <a:rect l="l" t="t" r="r" b="b"/>
              <a:pathLst>
                <a:path w="24448008" h="2505964">
                  <a:moveTo>
                    <a:pt x="0" y="0"/>
                  </a:moveTo>
                  <a:lnTo>
                    <a:pt x="24448008" y="0"/>
                  </a:lnTo>
                  <a:lnTo>
                    <a:pt x="24448008" y="2505964"/>
                  </a:lnTo>
                  <a:lnTo>
                    <a:pt x="0" y="2505964"/>
                  </a:lnTo>
                  <a:lnTo>
                    <a:pt x="0" y="0"/>
                  </a:lnTo>
                  <a:close/>
                </a:path>
              </a:pathLst>
            </a:custGeom>
            <a:solidFill>
              <a:srgbClr val="000000">
                <a:alpha val="0"/>
              </a:srgbClr>
            </a:solidFill>
            <a:ln w="12700">
              <a:solidFill>
                <a:srgbClr val="000000"/>
              </a:solidFill>
            </a:ln>
          </p:spPr>
        </p:sp>
      </p:grpSp>
      <p:grpSp>
        <p:nvGrpSpPr>
          <p:cNvPr id="7" name="Group 7"/>
          <p:cNvGrpSpPr/>
          <p:nvPr/>
        </p:nvGrpSpPr>
        <p:grpSpPr>
          <a:xfrm>
            <a:off x="-76962" y="-38100"/>
            <a:ext cx="18488728" cy="1966385"/>
            <a:chOff x="0" y="0"/>
            <a:chExt cx="24651637" cy="2621846"/>
          </a:xfrm>
        </p:grpSpPr>
        <p:sp>
          <p:nvSpPr>
            <p:cNvPr id="8" name="Freeform 8"/>
            <p:cNvSpPr/>
            <p:nvPr/>
          </p:nvSpPr>
          <p:spPr>
            <a:xfrm>
              <a:off x="0" y="0"/>
              <a:ext cx="24651637" cy="2491235"/>
            </a:xfrm>
            <a:custGeom>
              <a:avLst/>
              <a:gdLst/>
              <a:ahLst/>
              <a:cxnLst/>
              <a:rect l="l" t="t" r="r" b="b"/>
              <a:pathLst>
                <a:path w="24651637" h="2491235">
                  <a:moveTo>
                    <a:pt x="0" y="0"/>
                  </a:moveTo>
                  <a:lnTo>
                    <a:pt x="24651637" y="0"/>
                  </a:lnTo>
                  <a:lnTo>
                    <a:pt x="24651637" y="2491235"/>
                  </a:lnTo>
                  <a:lnTo>
                    <a:pt x="0" y="2491235"/>
                  </a:lnTo>
                  <a:lnTo>
                    <a:pt x="0" y="0"/>
                  </a:lnTo>
                  <a:close/>
                </a:path>
              </a:pathLst>
            </a:custGeom>
            <a:blipFill>
              <a:blip r:embed="rId2"/>
              <a:stretch>
                <a:fillRect t="-442" b="-442"/>
              </a:stretch>
            </a:blipFill>
          </p:spPr>
        </p:sp>
        <p:sp>
          <p:nvSpPr>
            <p:cNvPr id="9" name="Freeform 9"/>
            <p:cNvSpPr/>
            <p:nvPr/>
          </p:nvSpPr>
          <p:spPr>
            <a:xfrm>
              <a:off x="20688757" y="0"/>
              <a:ext cx="3962880" cy="2621846"/>
            </a:xfrm>
            <a:custGeom>
              <a:avLst/>
              <a:gdLst/>
              <a:ahLst/>
              <a:cxnLst/>
              <a:rect l="l" t="t" r="r" b="b"/>
              <a:pathLst>
                <a:path w="3962880" h="2621846">
                  <a:moveTo>
                    <a:pt x="0" y="0"/>
                  </a:moveTo>
                  <a:lnTo>
                    <a:pt x="3962880" y="0"/>
                  </a:lnTo>
                  <a:lnTo>
                    <a:pt x="3962880" y="2621846"/>
                  </a:lnTo>
                  <a:lnTo>
                    <a:pt x="0" y="2621846"/>
                  </a:lnTo>
                  <a:lnTo>
                    <a:pt x="0" y="0"/>
                  </a:lnTo>
                  <a:close/>
                </a:path>
              </a:pathLst>
            </a:custGeom>
            <a:blipFill>
              <a:blip r:embed="rId3"/>
              <a:stretch>
                <a:fillRect t="-442" b="-442"/>
              </a:stretch>
            </a:blipFill>
          </p:spPr>
        </p:sp>
      </p:grpSp>
      <p:sp>
        <p:nvSpPr>
          <p:cNvPr id="10" name="Freeform 10"/>
          <p:cNvSpPr/>
          <p:nvPr/>
        </p:nvSpPr>
        <p:spPr>
          <a:xfrm>
            <a:off x="-9525" y="10149893"/>
            <a:ext cx="18336006" cy="146589"/>
          </a:xfrm>
          <a:custGeom>
            <a:avLst/>
            <a:gdLst/>
            <a:ahLst/>
            <a:cxnLst/>
            <a:rect l="l" t="t" r="r" b="b"/>
            <a:pathLst>
              <a:path w="18336006" h="146589">
                <a:moveTo>
                  <a:pt x="0" y="0"/>
                </a:moveTo>
                <a:lnTo>
                  <a:pt x="18336006" y="0"/>
                </a:lnTo>
                <a:lnTo>
                  <a:pt x="18336006" y="146589"/>
                </a:lnTo>
                <a:lnTo>
                  <a:pt x="0" y="146589"/>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grpSp>
        <p:nvGrpSpPr>
          <p:cNvPr id="11" name="Group 11"/>
          <p:cNvGrpSpPr/>
          <p:nvPr/>
        </p:nvGrpSpPr>
        <p:grpSpPr>
          <a:xfrm>
            <a:off x="1257300" y="9505950"/>
            <a:ext cx="4114800" cy="576263"/>
            <a:chOff x="0" y="0"/>
            <a:chExt cx="5486400" cy="768351"/>
          </a:xfrm>
        </p:grpSpPr>
        <p:sp>
          <p:nvSpPr>
            <p:cNvPr id="12" name="Freeform 12"/>
            <p:cNvSpPr/>
            <p:nvPr/>
          </p:nvSpPr>
          <p:spPr>
            <a:xfrm>
              <a:off x="0" y="0"/>
              <a:ext cx="5486400" cy="768351"/>
            </a:xfrm>
            <a:custGeom>
              <a:avLst/>
              <a:gdLst/>
              <a:ahLst/>
              <a:cxnLst/>
              <a:rect l="l" t="t" r="r" b="b"/>
              <a:pathLst>
                <a:path w="5486400" h="768351">
                  <a:moveTo>
                    <a:pt x="0" y="0"/>
                  </a:moveTo>
                  <a:lnTo>
                    <a:pt x="5486400" y="0"/>
                  </a:lnTo>
                  <a:lnTo>
                    <a:pt x="5486400" y="768351"/>
                  </a:lnTo>
                  <a:lnTo>
                    <a:pt x="0" y="768351"/>
                  </a:lnTo>
                  <a:close/>
                </a:path>
              </a:pathLst>
            </a:custGeom>
            <a:solidFill>
              <a:srgbClr val="000000">
                <a:alpha val="0"/>
              </a:srgbClr>
            </a:solidFill>
          </p:spPr>
        </p:sp>
        <p:sp>
          <p:nvSpPr>
            <p:cNvPr id="13" name="TextBox 13"/>
            <p:cNvSpPr txBox="1"/>
            <p:nvPr/>
          </p:nvSpPr>
          <p:spPr>
            <a:xfrm>
              <a:off x="0" y="-38100"/>
              <a:ext cx="5486400" cy="806451"/>
            </a:xfrm>
            <a:prstGeom prst="rect">
              <a:avLst/>
            </a:prstGeom>
          </p:spPr>
          <p:txBody>
            <a:bodyPr lIns="0" tIns="0" rIns="0" bIns="0" rtlCol="0" anchor="ctr"/>
            <a:lstStyle/>
            <a:p>
              <a:pPr algn="l">
                <a:lnSpc>
                  <a:spcPts val="2160"/>
                </a:lnSpc>
              </a:pPr>
              <a:r>
                <a:rPr lang="en-US" sz="1800">
                  <a:solidFill>
                    <a:srgbClr val="898989"/>
                  </a:solidFill>
                  <a:latin typeface="Calibri (MS)" panose="020F0502020204030204"/>
                  <a:ea typeface="Calibri (MS)" panose="020F0502020204030204"/>
                  <a:cs typeface="Calibri (MS)" panose="020F0502020204030204"/>
                  <a:sym typeface="Calibri (MS)" panose="020F0502020204030204"/>
                </a:rPr>
                <a:t>1/24/2026</a:t>
              </a:r>
            </a:p>
          </p:txBody>
        </p:sp>
      </p:grpSp>
      <p:grpSp>
        <p:nvGrpSpPr>
          <p:cNvPr id="14" name="Group 14"/>
          <p:cNvGrpSpPr/>
          <p:nvPr/>
        </p:nvGrpSpPr>
        <p:grpSpPr>
          <a:xfrm>
            <a:off x="11772900" y="10117531"/>
            <a:ext cx="3200400" cy="561976"/>
            <a:chOff x="0" y="0"/>
            <a:chExt cx="4267200" cy="749301"/>
          </a:xfrm>
        </p:grpSpPr>
        <p:sp>
          <p:nvSpPr>
            <p:cNvPr id="15" name="Freeform 15"/>
            <p:cNvSpPr/>
            <p:nvPr/>
          </p:nvSpPr>
          <p:spPr>
            <a:xfrm>
              <a:off x="0" y="0"/>
              <a:ext cx="4267200" cy="749301"/>
            </a:xfrm>
            <a:custGeom>
              <a:avLst/>
              <a:gdLst/>
              <a:ahLst/>
              <a:cxnLst/>
              <a:rect l="l" t="t" r="r" b="b"/>
              <a:pathLst>
                <a:path w="4267200" h="749301">
                  <a:moveTo>
                    <a:pt x="0" y="0"/>
                  </a:moveTo>
                  <a:lnTo>
                    <a:pt x="4267200" y="0"/>
                  </a:lnTo>
                  <a:lnTo>
                    <a:pt x="4267200" y="749301"/>
                  </a:lnTo>
                  <a:lnTo>
                    <a:pt x="0" y="749301"/>
                  </a:lnTo>
                  <a:close/>
                </a:path>
              </a:pathLst>
            </a:custGeom>
            <a:solidFill>
              <a:srgbClr val="000000">
                <a:alpha val="0"/>
              </a:srgbClr>
            </a:solidFill>
          </p:spPr>
        </p:sp>
        <p:sp>
          <p:nvSpPr>
            <p:cNvPr id="16" name="TextBox 16"/>
            <p:cNvSpPr txBox="1"/>
            <p:nvPr/>
          </p:nvSpPr>
          <p:spPr>
            <a:xfrm>
              <a:off x="0" y="-19050"/>
              <a:ext cx="4267200" cy="768351"/>
            </a:xfrm>
            <a:prstGeom prst="rect">
              <a:avLst/>
            </a:prstGeom>
          </p:spPr>
          <p:txBody>
            <a:bodyPr lIns="0" tIns="0" rIns="0" bIns="0" rtlCol="0" anchor="ctr"/>
            <a:lstStyle/>
            <a:p>
              <a:pPr algn="r">
                <a:lnSpc>
                  <a:spcPts val="1890"/>
                </a:lnSpc>
              </a:pPr>
              <a:r>
                <a:rPr lang="en-US" sz="1575">
                  <a:solidFill>
                    <a:srgbClr val="888888"/>
                  </a:solidFill>
                  <a:latin typeface="Calibri (MS)" panose="020F0502020204030204"/>
                  <a:ea typeface="Calibri (MS)" panose="020F0502020204030204"/>
                  <a:cs typeface="Calibri (MS)" panose="020F0502020204030204"/>
                  <a:sym typeface="Calibri (MS)" panose="020F0502020204030204"/>
                </a:rPr>
                <a:t>2</a:t>
              </a:r>
            </a:p>
          </p:txBody>
        </p:sp>
      </p:grpSp>
      <p:sp>
        <p:nvSpPr>
          <p:cNvPr id="17" name="TextBox 17"/>
          <p:cNvSpPr txBox="1"/>
          <p:nvPr/>
        </p:nvSpPr>
        <p:spPr>
          <a:xfrm>
            <a:off x="2901195" y="1517488"/>
            <a:ext cx="12485610" cy="1747519"/>
          </a:xfrm>
          <a:prstGeom prst="rect">
            <a:avLst/>
          </a:prstGeom>
        </p:spPr>
        <p:txBody>
          <a:bodyPr lIns="0" tIns="0" rIns="0" bIns="0" rtlCol="0" anchor="t">
            <a:spAutoFit/>
          </a:bodyPr>
          <a:lstStyle/>
          <a:p>
            <a:pPr algn="ctr">
              <a:lnSpc>
                <a:spcPts val="12880"/>
              </a:lnSpc>
            </a:pPr>
            <a:r>
              <a:rPr lang="en-US" sz="9200" b="1">
                <a:solidFill>
                  <a:srgbClr val="000000"/>
                </a:solidFill>
                <a:latin typeface="Calibri (MS) Bold" panose="020F0702030404030204"/>
                <a:ea typeface="Calibri (MS) Bold" panose="020F0702030404030204"/>
                <a:cs typeface="Calibri (MS) Bold" panose="020F0702030404030204"/>
                <a:sym typeface="Calibri (MS) Bold" panose="020F0702030404030204"/>
              </a:rPr>
              <a:t>Business Model / Impact</a:t>
            </a:r>
          </a:p>
        </p:txBody>
      </p:sp>
      <p:grpSp>
        <p:nvGrpSpPr>
          <p:cNvPr id="18" name="Group 18"/>
          <p:cNvGrpSpPr/>
          <p:nvPr/>
        </p:nvGrpSpPr>
        <p:grpSpPr>
          <a:xfrm>
            <a:off x="11753850" y="355898"/>
            <a:ext cx="2900669" cy="545721"/>
            <a:chOff x="0" y="0"/>
            <a:chExt cx="3867559" cy="727628"/>
          </a:xfrm>
        </p:grpSpPr>
        <p:grpSp>
          <p:nvGrpSpPr>
            <p:cNvPr id="19" name="Group 19"/>
            <p:cNvGrpSpPr/>
            <p:nvPr/>
          </p:nvGrpSpPr>
          <p:grpSpPr>
            <a:xfrm>
              <a:off x="2250130" y="395892"/>
              <a:ext cx="74116" cy="74116"/>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cap="sq">
                <a:noFill/>
                <a:prstDash val="solid"/>
                <a:miter/>
              </a:ln>
            </p:spPr>
          </p:sp>
          <p:sp>
            <p:nvSpPr>
              <p:cNvPr id="21" name="TextBox 21"/>
              <p:cNvSpPr txBox="1"/>
              <p:nvPr/>
            </p:nvSpPr>
            <p:spPr>
              <a:xfrm>
                <a:off x="76200" y="66675"/>
                <a:ext cx="660400" cy="669925"/>
              </a:xfrm>
              <a:prstGeom prst="rect">
                <a:avLst/>
              </a:prstGeom>
            </p:spPr>
            <p:txBody>
              <a:bodyPr lIns="8444" tIns="8444" rIns="8444" bIns="8444" rtlCol="0" anchor="ctr"/>
              <a:lstStyle/>
              <a:p>
                <a:pPr algn="ctr">
                  <a:lnSpc>
                    <a:spcPts val="650"/>
                  </a:lnSpc>
                </a:pPr>
                <a:endParaRPr/>
              </a:p>
            </p:txBody>
          </p:sp>
        </p:grpSp>
        <p:sp>
          <p:nvSpPr>
            <p:cNvPr id="22" name="TextBox 22"/>
            <p:cNvSpPr txBox="1"/>
            <p:nvPr/>
          </p:nvSpPr>
          <p:spPr>
            <a:xfrm>
              <a:off x="399300" y="-66675"/>
              <a:ext cx="2492296" cy="794303"/>
            </a:xfrm>
            <a:prstGeom prst="rect">
              <a:avLst/>
            </a:prstGeom>
          </p:spPr>
          <p:txBody>
            <a:bodyPr lIns="0" tIns="0" rIns="0" bIns="0" rtlCol="0" anchor="t">
              <a:spAutoFit/>
            </a:bodyPr>
            <a:lstStyle/>
            <a:p>
              <a:pPr algn="l">
                <a:lnSpc>
                  <a:spcPts val="5025"/>
                </a:lnSpc>
              </a:pPr>
              <a:r>
                <a:rPr lang="en-US" sz="3590" b="1">
                  <a:solidFill>
                    <a:srgbClr val="000000"/>
                  </a:solidFill>
                  <a:latin typeface="Garet Bold"/>
                  <a:ea typeface="Garet Bold"/>
                  <a:cs typeface="Garet Bold"/>
                  <a:sym typeface="Garet Bold"/>
                </a:rPr>
                <a:t>Echel  n</a:t>
              </a:r>
            </a:p>
          </p:txBody>
        </p:sp>
        <p:sp>
          <p:nvSpPr>
            <p:cNvPr id="23" name="TextBox 23"/>
            <p:cNvSpPr txBox="1"/>
            <p:nvPr/>
          </p:nvSpPr>
          <p:spPr>
            <a:xfrm>
              <a:off x="2891596" y="-66675"/>
              <a:ext cx="975963" cy="785631"/>
            </a:xfrm>
            <a:prstGeom prst="rect">
              <a:avLst/>
            </a:prstGeom>
          </p:spPr>
          <p:txBody>
            <a:bodyPr lIns="0" tIns="0" rIns="0" bIns="0" rtlCol="0" anchor="t">
              <a:spAutoFit/>
            </a:bodyPr>
            <a:lstStyle/>
            <a:p>
              <a:pPr algn="l">
                <a:lnSpc>
                  <a:spcPts val="4965"/>
                </a:lnSpc>
              </a:pPr>
              <a:r>
                <a:rPr lang="en-US" sz="3545" b="1">
                  <a:solidFill>
                    <a:srgbClr val="000000"/>
                  </a:solidFill>
                  <a:latin typeface="Garet Bold"/>
                  <a:ea typeface="Garet Bold"/>
                  <a:cs typeface="Garet Bold"/>
                  <a:sym typeface="Garet Bold"/>
                </a:rPr>
                <a:t>2.0</a:t>
              </a:r>
            </a:p>
          </p:txBody>
        </p:sp>
        <p:sp>
          <p:nvSpPr>
            <p:cNvPr id="24" name="Freeform 24"/>
            <p:cNvSpPr/>
            <p:nvPr/>
          </p:nvSpPr>
          <p:spPr>
            <a:xfrm rot="1652127">
              <a:off x="2141306" y="287067"/>
              <a:ext cx="291765" cy="291765"/>
            </a:xfrm>
            <a:custGeom>
              <a:avLst/>
              <a:gdLst/>
              <a:ahLst/>
              <a:cxnLst/>
              <a:rect l="l" t="t" r="r" b="b"/>
              <a:pathLst>
                <a:path w="291765" h="291765">
                  <a:moveTo>
                    <a:pt x="0" y="0"/>
                  </a:moveTo>
                  <a:lnTo>
                    <a:pt x="291765" y="0"/>
                  </a:lnTo>
                  <a:lnTo>
                    <a:pt x="291765" y="291766"/>
                  </a:lnTo>
                  <a:lnTo>
                    <a:pt x="0" y="291766"/>
                  </a:lnTo>
                  <a:lnTo>
                    <a:pt x="0" y="0"/>
                  </a:lnTo>
                  <a:close/>
                </a:path>
              </a:pathLst>
            </a:custGeom>
            <a:blipFill>
              <a:blip r:embed="rId6" cstate="print">
                <a:extLst>
                  <a:ext uri="{96DAC541-7B7A-43D3-8B79-37D633B846F1}">
                    <asvg:svgBlip xmlns:asvg="http://schemas.microsoft.com/office/drawing/2016/SVG/main" xmlns="" r:embed="rId7"/>
                  </a:ext>
                </a:extLst>
              </a:blip>
              <a:stretch>
                <a:fillRect/>
              </a:stretch>
            </a:blipFill>
          </p:spPr>
        </p:sp>
        <p:sp>
          <p:nvSpPr>
            <p:cNvPr id="25" name="Freeform 25"/>
            <p:cNvSpPr/>
            <p:nvPr/>
          </p:nvSpPr>
          <p:spPr>
            <a:xfrm>
              <a:off x="0" y="150966"/>
              <a:ext cx="399300" cy="417024"/>
            </a:xfrm>
            <a:custGeom>
              <a:avLst/>
              <a:gdLst/>
              <a:ahLst/>
              <a:cxnLst/>
              <a:rect l="l" t="t" r="r" b="b"/>
              <a:pathLst>
                <a:path w="399300" h="417024">
                  <a:moveTo>
                    <a:pt x="0" y="0"/>
                  </a:moveTo>
                  <a:lnTo>
                    <a:pt x="399300" y="0"/>
                  </a:lnTo>
                  <a:lnTo>
                    <a:pt x="399300" y="417024"/>
                  </a:lnTo>
                  <a:lnTo>
                    <a:pt x="0" y="417024"/>
                  </a:lnTo>
                  <a:lnTo>
                    <a:pt x="0" y="0"/>
                  </a:lnTo>
                  <a:close/>
                </a:path>
              </a:pathLst>
            </a:custGeom>
            <a:blipFill>
              <a:blip r:embed="rId8" cstate="print">
                <a:extLst>
                  <a:ext uri="{96DAC541-7B7A-43D3-8B79-37D633B846F1}">
                    <asvg:svgBlip xmlns:asvg="http://schemas.microsoft.com/office/drawing/2016/SVG/main" xmlns="" r:embed="rId9"/>
                  </a:ext>
                </a:extLst>
              </a:blip>
              <a:stretch>
                <a:fillRect/>
              </a:stretch>
            </a:blipFill>
          </p:spPr>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058900" y="9415306"/>
            <a:ext cx="3200400" cy="561938"/>
            <a:chOff x="0" y="0"/>
            <a:chExt cx="4267200" cy="749250"/>
          </a:xfrm>
        </p:grpSpPr>
        <p:sp>
          <p:nvSpPr>
            <p:cNvPr id="3" name="Freeform 3"/>
            <p:cNvSpPr/>
            <p:nvPr/>
          </p:nvSpPr>
          <p:spPr>
            <a:xfrm>
              <a:off x="0" y="0"/>
              <a:ext cx="4267200" cy="749250"/>
            </a:xfrm>
            <a:custGeom>
              <a:avLst/>
              <a:gdLst/>
              <a:ahLst/>
              <a:cxnLst/>
              <a:rect l="l" t="t" r="r" b="b"/>
              <a:pathLst>
                <a:path w="4267200" h="749250">
                  <a:moveTo>
                    <a:pt x="0" y="0"/>
                  </a:moveTo>
                  <a:lnTo>
                    <a:pt x="4267200" y="0"/>
                  </a:lnTo>
                  <a:lnTo>
                    <a:pt x="4267200" y="749250"/>
                  </a:lnTo>
                  <a:lnTo>
                    <a:pt x="0" y="749250"/>
                  </a:lnTo>
                  <a:close/>
                </a:path>
              </a:pathLst>
            </a:custGeom>
            <a:solidFill>
              <a:srgbClr val="000000">
                <a:alpha val="0"/>
              </a:srgbClr>
            </a:solidFill>
          </p:spPr>
        </p:sp>
        <p:sp>
          <p:nvSpPr>
            <p:cNvPr id="4" name="TextBox 4"/>
            <p:cNvSpPr txBox="1"/>
            <p:nvPr/>
          </p:nvSpPr>
          <p:spPr>
            <a:xfrm>
              <a:off x="0" y="-19050"/>
              <a:ext cx="4267200" cy="768300"/>
            </a:xfrm>
            <a:prstGeom prst="rect">
              <a:avLst/>
            </a:prstGeom>
          </p:spPr>
          <p:txBody>
            <a:bodyPr lIns="0" tIns="0" rIns="0" bIns="0" rtlCol="0" anchor="ctr"/>
            <a:lstStyle/>
            <a:p>
              <a:pPr algn="r">
                <a:lnSpc>
                  <a:spcPts val="1890"/>
                </a:lnSpc>
              </a:pPr>
              <a:r>
                <a:rPr lang="en-US" sz="1575">
                  <a:solidFill>
                    <a:srgbClr val="888888"/>
                  </a:solidFill>
                  <a:latin typeface="Calibri (MS)" panose="020F0502020204030204"/>
                  <a:ea typeface="Calibri (MS)" panose="020F0502020204030204"/>
                  <a:cs typeface="Calibri (MS)" panose="020F0502020204030204"/>
                  <a:sym typeface="Calibri (MS)" panose="020F0502020204030204"/>
                </a:rPr>
                <a:t>8</a:t>
              </a:r>
            </a:p>
          </p:txBody>
        </p:sp>
      </p:grpSp>
      <p:grpSp>
        <p:nvGrpSpPr>
          <p:cNvPr id="5" name="Group 5"/>
          <p:cNvGrpSpPr/>
          <p:nvPr/>
        </p:nvGrpSpPr>
        <p:grpSpPr>
          <a:xfrm>
            <a:off x="-9525" y="-38100"/>
            <a:ext cx="18335982" cy="1879438"/>
            <a:chOff x="0" y="0"/>
            <a:chExt cx="24447976" cy="2505917"/>
          </a:xfrm>
        </p:grpSpPr>
        <p:sp>
          <p:nvSpPr>
            <p:cNvPr id="6" name="Freeform 6"/>
            <p:cNvSpPr/>
            <p:nvPr/>
          </p:nvSpPr>
          <p:spPr>
            <a:xfrm>
              <a:off x="0" y="0"/>
              <a:ext cx="24448008" cy="2505964"/>
            </a:xfrm>
            <a:custGeom>
              <a:avLst/>
              <a:gdLst/>
              <a:ahLst/>
              <a:cxnLst/>
              <a:rect l="l" t="t" r="r" b="b"/>
              <a:pathLst>
                <a:path w="24448008" h="2505964">
                  <a:moveTo>
                    <a:pt x="0" y="0"/>
                  </a:moveTo>
                  <a:lnTo>
                    <a:pt x="24448008" y="0"/>
                  </a:lnTo>
                  <a:lnTo>
                    <a:pt x="24448008" y="2505964"/>
                  </a:lnTo>
                  <a:lnTo>
                    <a:pt x="0" y="2505964"/>
                  </a:lnTo>
                  <a:lnTo>
                    <a:pt x="0" y="0"/>
                  </a:lnTo>
                  <a:close/>
                </a:path>
              </a:pathLst>
            </a:custGeom>
            <a:solidFill>
              <a:srgbClr val="000000">
                <a:alpha val="0"/>
              </a:srgbClr>
            </a:solidFill>
            <a:ln w="12700">
              <a:solidFill>
                <a:srgbClr val="000000"/>
              </a:solidFill>
            </a:ln>
          </p:spPr>
        </p:sp>
      </p:grpSp>
      <p:grpSp>
        <p:nvGrpSpPr>
          <p:cNvPr id="7" name="Group 7"/>
          <p:cNvGrpSpPr/>
          <p:nvPr/>
        </p:nvGrpSpPr>
        <p:grpSpPr>
          <a:xfrm>
            <a:off x="-76962" y="-38100"/>
            <a:ext cx="18488728" cy="1966385"/>
            <a:chOff x="0" y="0"/>
            <a:chExt cx="24651637" cy="2621846"/>
          </a:xfrm>
        </p:grpSpPr>
        <p:sp>
          <p:nvSpPr>
            <p:cNvPr id="8" name="Freeform 8"/>
            <p:cNvSpPr/>
            <p:nvPr/>
          </p:nvSpPr>
          <p:spPr>
            <a:xfrm>
              <a:off x="0" y="0"/>
              <a:ext cx="24651637" cy="2491235"/>
            </a:xfrm>
            <a:custGeom>
              <a:avLst/>
              <a:gdLst/>
              <a:ahLst/>
              <a:cxnLst/>
              <a:rect l="l" t="t" r="r" b="b"/>
              <a:pathLst>
                <a:path w="24651637" h="2491235">
                  <a:moveTo>
                    <a:pt x="0" y="0"/>
                  </a:moveTo>
                  <a:lnTo>
                    <a:pt x="24651637" y="0"/>
                  </a:lnTo>
                  <a:lnTo>
                    <a:pt x="24651637" y="2491235"/>
                  </a:lnTo>
                  <a:lnTo>
                    <a:pt x="0" y="2491235"/>
                  </a:lnTo>
                  <a:lnTo>
                    <a:pt x="0" y="0"/>
                  </a:lnTo>
                  <a:close/>
                </a:path>
              </a:pathLst>
            </a:custGeom>
            <a:blipFill>
              <a:blip r:embed="rId2"/>
              <a:stretch>
                <a:fillRect t="-442" b="-442"/>
              </a:stretch>
            </a:blipFill>
          </p:spPr>
        </p:sp>
        <p:sp>
          <p:nvSpPr>
            <p:cNvPr id="9" name="Freeform 9"/>
            <p:cNvSpPr/>
            <p:nvPr/>
          </p:nvSpPr>
          <p:spPr>
            <a:xfrm>
              <a:off x="20688757" y="0"/>
              <a:ext cx="3962880" cy="2621846"/>
            </a:xfrm>
            <a:custGeom>
              <a:avLst/>
              <a:gdLst/>
              <a:ahLst/>
              <a:cxnLst/>
              <a:rect l="l" t="t" r="r" b="b"/>
              <a:pathLst>
                <a:path w="3962880" h="2621846">
                  <a:moveTo>
                    <a:pt x="0" y="0"/>
                  </a:moveTo>
                  <a:lnTo>
                    <a:pt x="3962880" y="0"/>
                  </a:lnTo>
                  <a:lnTo>
                    <a:pt x="3962880" y="2621846"/>
                  </a:lnTo>
                  <a:lnTo>
                    <a:pt x="0" y="2621846"/>
                  </a:lnTo>
                  <a:lnTo>
                    <a:pt x="0" y="0"/>
                  </a:lnTo>
                  <a:close/>
                </a:path>
              </a:pathLst>
            </a:custGeom>
            <a:blipFill>
              <a:blip r:embed="rId3"/>
              <a:stretch>
                <a:fillRect t="-442" b="-442"/>
              </a:stretch>
            </a:blipFill>
          </p:spPr>
        </p:sp>
      </p:grpSp>
      <p:sp>
        <p:nvSpPr>
          <p:cNvPr id="10" name="Freeform 10"/>
          <p:cNvSpPr/>
          <p:nvPr/>
        </p:nvSpPr>
        <p:spPr>
          <a:xfrm>
            <a:off x="-9525" y="10149893"/>
            <a:ext cx="18336006" cy="146589"/>
          </a:xfrm>
          <a:custGeom>
            <a:avLst/>
            <a:gdLst/>
            <a:ahLst/>
            <a:cxnLst/>
            <a:rect l="l" t="t" r="r" b="b"/>
            <a:pathLst>
              <a:path w="18336006" h="146589">
                <a:moveTo>
                  <a:pt x="0" y="0"/>
                </a:moveTo>
                <a:lnTo>
                  <a:pt x="18336006" y="0"/>
                </a:lnTo>
                <a:lnTo>
                  <a:pt x="18336006" y="146589"/>
                </a:lnTo>
                <a:lnTo>
                  <a:pt x="0" y="146589"/>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grpSp>
        <p:nvGrpSpPr>
          <p:cNvPr id="11" name="Group 11"/>
          <p:cNvGrpSpPr/>
          <p:nvPr/>
        </p:nvGrpSpPr>
        <p:grpSpPr>
          <a:xfrm>
            <a:off x="1257300" y="9505950"/>
            <a:ext cx="4114800" cy="576263"/>
            <a:chOff x="0" y="0"/>
            <a:chExt cx="5486400" cy="768351"/>
          </a:xfrm>
        </p:grpSpPr>
        <p:sp>
          <p:nvSpPr>
            <p:cNvPr id="12" name="Freeform 12"/>
            <p:cNvSpPr/>
            <p:nvPr/>
          </p:nvSpPr>
          <p:spPr>
            <a:xfrm>
              <a:off x="0" y="0"/>
              <a:ext cx="5486400" cy="768351"/>
            </a:xfrm>
            <a:custGeom>
              <a:avLst/>
              <a:gdLst/>
              <a:ahLst/>
              <a:cxnLst/>
              <a:rect l="l" t="t" r="r" b="b"/>
              <a:pathLst>
                <a:path w="5486400" h="768351">
                  <a:moveTo>
                    <a:pt x="0" y="0"/>
                  </a:moveTo>
                  <a:lnTo>
                    <a:pt x="5486400" y="0"/>
                  </a:lnTo>
                  <a:lnTo>
                    <a:pt x="5486400" y="768351"/>
                  </a:lnTo>
                  <a:lnTo>
                    <a:pt x="0" y="768351"/>
                  </a:lnTo>
                  <a:close/>
                </a:path>
              </a:pathLst>
            </a:custGeom>
            <a:solidFill>
              <a:srgbClr val="000000">
                <a:alpha val="0"/>
              </a:srgbClr>
            </a:solidFill>
          </p:spPr>
        </p:sp>
        <p:sp>
          <p:nvSpPr>
            <p:cNvPr id="13" name="TextBox 13"/>
            <p:cNvSpPr txBox="1"/>
            <p:nvPr/>
          </p:nvSpPr>
          <p:spPr>
            <a:xfrm>
              <a:off x="0" y="-38100"/>
              <a:ext cx="5486400" cy="806451"/>
            </a:xfrm>
            <a:prstGeom prst="rect">
              <a:avLst/>
            </a:prstGeom>
          </p:spPr>
          <p:txBody>
            <a:bodyPr lIns="0" tIns="0" rIns="0" bIns="0" rtlCol="0" anchor="ctr"/>
            <a:lstStyle/>
            <a:p>
              <a:pPr algn="l">
                <a:lnSpc>
                  <a:spcPts val="2160"/>
                </a:lnSpc>
              </a:pPr>
              <a:r>
                <a:rPr lang="en-US" sz="1800">
                  <a:solidFill>
                    <a:srgbClr val="898989"/>
                  </a:solidFill>
                  <a:latin typeface="Calibri (MS)" panose="020F0502020204030204"/>
                  <a:ea typeface="Calibri (MS)" panose="020F0502020204030204"/>
                  <a:cs typeface="Calibri (MS)" panose="020F0502020204030204"/>
                  <a:sym typeface="Calibri (MS)" panose="020F0502020204030204"/>
                </a:rPr>
                <a:t>1/24/2026</a:t>
              </a:r>
            </a:p>
          </p:txBody>
        </p:sp>
      </p:grpSp>
      <p:grpSp>
        <p:nvGrpSpPr>
          <p:cNvPr id="14" name="Group 14"/>
          <p:cNvGrpSpPr/>
          <p:nvPr/>
        </p:nvGrpSpPr>
        <p:grpSpPr>
          <a:xfrm>
            <a:off x="11772900" y="10117531"/>
            <a:ext cx="3200400" cy="561976"/>
            <a:chOff x="0" y="0"/>
            <a:chExt cx="4267200" cy="749301"/>
          </a:xfrm>
        </p:grpSpPr>
        <p:sp>
          <p:nvSpPr>
            <p:cNvPr id="15" name="Freeform 15"/>
            <p:cNvSpPr/>
            <p:nvPr/>
          </p:nvSpPr>
          <p:spPr>
            <a:xfrm>
              <a:off x="0" y="0"/>
              <a:ext cx="4267200" cy="749301"/>
            </a:xfrm>
            <a:custGeom>
              <a:avLst/>
              <a:gdLst/>
              <a:ahLst/>
              <a:cxnLst/>
              <a:rect l="l" t="t" r="r" b="b"/>
              <a:pathLst>
                <a:path w="4267200" h="749301">
                  <a:moveTo>
                    <a:pt x="0" y="0"/>
                  </a:moveTo>
                  <a:lnTo>
                    <a:pt x="4267200" y="0"/>
                  </a:lnTo>
                  <a:lnTo>
                    <a:pt x="4267200" y="749301"/>
                  </a:lnTo>
                  <a:lnTo>
                    <a:pt x="0" y="749301"/>
                  </a:lnTo>
                  <a:close/>
                </a:path>
              </a:pathLst>
            </a:custGeom>
            <a:solidFill>
              <a:srgbClr val="000000">
                <a:alpha val="0"/>
              </a:srgbClr>
            </a:solidFill>
          </p:spPr>
        </p:sp>
        <p:sp>
          <p:nvSpPr>
            <p:cNvPr id="16" name="TextBox 16"/>
            <p:cNvSpPr txBox="1"/>
            <p:nvPr/>
          </p:nvSpPr>
          <p:spPr>
            <a:xfrm>
              <a:off x="0" y="-19050"/>
              <a:ext cx="4267200" cy="768351"/>
            </a:xfrm>
            <a:prstGeom prst="rect">
              <a:avLst/>
            </a:prstGeom>
          </p:spPr>
          <p:txBody>
            <a:bodyPr lIns="0" tIns="0" rIns="0" bIns="0" rtlCol="0" anchor="ctr"/>
            <a:lstStyle/>
            <a:p>
              <a:pPr algn="r">
                <a:lnSpc>
                  <a:spcPts val="1890"/>
                </a:lnSpc>
              </a:pPr>
              <a:r>
                <a:rPr lang="en-US" sz="1575">
                  <a:solidFill>
                    <a:srgbClr val="888888"/>
                  </a:solidFill>
                  <a:latin typeface="Calibri (MS)" panose="020F0502020204030204"/>
                  <a:ea typeface="Calibri (MS)" panose="020F0502020204030204"/>
                  <a:cs typeface="Calibri (MS)" panose="020F0502020204030204"/>
                  <a:sym typeface="Calibri (MS)" panose="020F0502020204030204"/>
                </a:rPr>
                <a:t>2</a:t>
              </a:r>
            </a:p>
          </p:txBody>
        </p:sp>
      </p:grpSp>
      <p:sp>
        <p:nvSpPr>
          <p:cNvPr id="17" name="TextBox 17"/>
          <p:cNvSpPr txBox="1"/>
          <p:nvPr/>
        </p:nvSpPr>
        <p:spPr>
          <a:xfrm>
            <a:off x="2895600" y="1916860"/>
            <a:ext cx="12295110" cy="1517275"/>
          </a:xfrm>
          <a:prstGeom prst="rect">
            <a:avLst/>
          </a:prstGeom>
        </p:spPr>
        <p:txBody>
          <a:bodyPr wrap="square" lIns="0" tIns="0" rIns="0" bIns="0" rtlCol="0" anchor="t">
            <a:spAutoFit/>
          </a:bodyPr>
          <a:lstStyle/>
          <a:p>
            <a:pPr algn="ctr">
              <a:lnSpc>
                <a:spcPts val="12880"/>
              </a:lnSpc>
            </a:pPr>
            <a:r>
              <a:rPr lang="en-US" sz="9200" b="1" dirty="0">
                <a:solidFill>
                  <a:srgbClr val="000000"/>
                </a:solidFill>
                <a:latin typeface="Times New Roman" panose="02020603050405020304" pitchFamily="18" charset="0"/>
                <a:ea typeface="Calibri (MS) Bold" panose="020F0702030404030204"/>
                <a:cs typeface="Times New Roman" panose="02020603050405020304" pitchFamily="18" charset="0"/>
                <a:sym typeface="Calibri (MS) Bold" panose="020F0702030404030204"/>
              </a:rPr>
              <a:t>Challenges &amp; Learnings</a:t>
            </a:r>
          </a:p>
        </p:txBody>
      </p:sp>
      <p:sp>
        <p:nvSpPr>
          <p:cNvPr id="27" name="TextBox 26">
            <a:extLst>
              <a:ext uri="{FF2B5EF4-FFF2-40B4-BE49-F238E27FC236}">
                <a16:creationId xmlns:a16="http://schemas.microsoft.com/office/drawing/2014/main" xmlns="" id="{C7604257-C2CE-EB9C-1C34-5BAE1C482313}"/>
              </a:ext>
            </a:extLst>
          </p:cNvPr>
          <p:cNvSpPr txBox="1"/>
          <p:nvPr/>
        </p:nvSpPr>
        <p:spPr>
          <a:xfrm>
            <a:off x="3480818" y="3790992"/>
            <a:ext cx="11124673" cy="4832092"/>
          </a:xfrm>
          <a:prstGeom prst="rect">
            <a:avLst/>
          </a:prstGeom>
          <a:noFill/>
        </p:spPr>
        <p:txBody>
          <a:bodyPr wrap="square">
            <a:spAutoFit/>
          </a:bodyPr>
          <a:lstStyle/>
          <a:p>
            <a:pPr algn="ctr">
              <a:buNone/>
            </a:pPr>
            <a:r>
              <a:rPr lang="en-US" sz="2800" b="1" dirty="0">
                <a:latin typeface="Times New Roman" panose="02020603050405020304" pitchFamily="18" charset="0"/>
                <a:cs typeface="Times New Roman" panose="02020603050405020304" pitchFamily="18" charset="0"/>
              </a:rPr>
              <a:t>Challenges</a:t>
            </a:r>
          </a:p>
          <a:p>
            <a:pPr algn="ct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Identifying which data is worth monitoring</a:t>
            </a:r>
          </a:p>
          <a:p>
            <a:pPr algn="ct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Balancing cost vs accuracy of detection</a:t>
            </a:r>
          </a:p>
          <a:p>
            <a:pPr algn="ct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Handling sudden spikes without false alarms</a:t>
            </a:r>
          </a:p>
          <a:p>
            <a:pPr algn="ct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Designing a system that is adaptive, not wasteful</a:t>
            </a:r>
          </a:p>
          <a:p>
            <a:pPr algn="ctr">
              <a:buNone/>
            </a:pPr>
            <a:r>
              <a:rPr lang="en-US" sz="2800" dirty="0">
                <a:latin typeface="Times New Roman" panose="02020603050405020304" pitchFamily="18" charset="0"/>
                <a:cs typeface="Times New Roman" panose="02020603050405020304" pitchFamily="18" charset="0"/>
              </a:rPr>
              <a:t/>
            </a:r>
            <a:br>
              <a:rPr lang="en-US" sz="2800"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Learnings</a:t>
            </a:r>
          </a:p>
          <a:p>
            <a:pPr algn="ct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Smart agents can save cost and resources by ignoring noise</a:t>
            </a:r>
          </a:p>
          <a:p>
            <a:pPr algn="ct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Pattern recognition is key for detecting real events</a:t>
            </a:r>
          </a:p>
          <a:p>
            <a:pPr algn="ct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Systems need to be patient but alert</a:t>
            </a:r>
          </a:p>
          <a:p>
            <a:pPr algn="ct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Practical experience with data-driven decision-making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058900" y="9415306"/>
            <a:ext cx="3200400" cy="561938"/>
            <a:chOff x="0" y="0"/>
            <a:chExt cx="4267200" cy="749250"/>
          </a:xfrm>
        </p:grpSpPr>
        <p:sp>
          <p:nvSpPr>
            <p:cNvPr id="3" name="Freeform 3"/>
            <p:cNvSpPr/>
            <p:nvPr/>
          </p:nvSpPr>
          <p:spPr>
            <a:xfrm>
              <a:off x="0" y="0"/>
              <a:ext cx="4267200" cy="749250"/>
            </a:xfrm>
            <a:custGeom>
              <a:avLst/>
              <a:gdLst/>
              <a:ahLst/>
              <a:cxnLst/>
              <a:rect l="l" t="t" r="r" b="b"/>
              <a:pathLst>
                <a:path w="4267200" h="749250">
                  <a:moveTo>
                    <a:pt x="0" y="0"/>
                  </a:moveTo>
                  <a:lnTo>
                    <a:pt x="4267200" y="0"/>
                  </a:lnTo>
                  <a:lnTo>
                    <a:pt x="4267200" y="749250"/>
                  </a:lnTo>
                  <a:lnTo>
                    <a:pt x="0" y="749250"/>
                  </a:lnTo>
                  <a:close/>
                </a:path>
              </a:pathLst>
            </a:custGeom>
            <a:solidFill>
              <a:srgbClr val="000000">
                <a:alpha val="0"/>
              </a:srgbClr>
            </a:solidFill>
          </p:spPr>
        </p:sp>
        <p:sp>
          <p:nvSpPr>
            <p:cNvPr id="4" name="TextBox 4"/>
            <p:cNvSpPr txBox="1"/>
            <p:nvPr/>
          </p:nvSpPr>
          <p:spPr>
            <a:xfrm>
              <a:off x="0" y="-19050"/>
              <a:ext cx="4267200" cy="768300"/>
            </a:xfrm>
            <a:prstGeom prst="rect">
              <a:avLst/>
            </a:prstGeom>
          </p:spPr>
          <p:txBody>
            <a:bodyPr lIns="0" tIns="0" rIns="0" bIns="0" rtlCol="0" anchor="ctr"/>
            <a:lstStyle/>
            <a:p>
              <a:pPr algn="r">
                <a:lnSpc>
                  <a:spcPts val="1890"/>
                </a:lnSpc>
              </a:pPr>
              <a:r>
                <a:rPr lang="en-US" sz="1575">
                  <a:solidFill>
                    <a:srgbClr val="888888"/>
                  </a:solidFill>
                  <a:latin typeface="Calibri (MS)" panose="020F0502020204030204"/>
                  <a:ea typeface="Calibri (MS)" panose="020F0502020204030204"/>
                  <a:cs typeface="Calibri (MS)" panose="020F0502020204030204"/>
                  <a:sym typeface="Calibri (MS)" panose="020F0502020204030204"/>
                </a:rPr>
                <a:t>9</a:t>
              </a:r>
            </a:p>
          </p:txBody>
        </p:sp>
      </p:grpSp>
      <p:grpSp>
        <p:nvGrpSpPr>
          <p:cNvPr id="5" name="Group 5"/>
          <p:cNvGrpSpPr/>
          <p:nvPr/>
        </p:nvGrpSpPr>
        <p:grpSpPr>
          <a:xfrm>
            <a:off x="-9525" y="-38100"/>
            <a:ext cx="18335982" cy="1879438"/>
            <a:chOff x="0" y="0"/>
            <a:chExt cx="24447976" cy="2505917"/>
          </a:xfrm>
        </p:grpSpPr>
        <p:sp>
          <p:nvSpPr>
            <p:cNvPr id="6" name="Freeform 6"/>
            <p:cNvSpPr/>
            <p:nvPr/>
          </p:nvSpPr>
          <p:spPr>
            <a:xfrm>
              <a:off x="0" y="0"/>
              <a:ext cx="24448008" cy="2505964"/>
            </a:xfrm>
            <a:custGeom>
              <a:avLst/>
              <a:gdLst/>
              <a:ahLst/>
              <a:cxnLst/>
              <a:rect l="l" t="t" r="r" b="b"/>
              <a:pathLst>
                <a:path w="24448008" h="2505964">
                  <a:moveTo>
                    <a:pt x="0" y="0"/>
                  </a:moveTo>
                  <a:lnTo>
                    <a:pt x="24448008" y="0"/>
                  </a:lnTo>
                  <a:lnTo>
                    <a:pt x="24448008" y="2505964"/>
                  </a:lnTo>
                  <a:lnTo>
                    <a:pt x="0" y="2505964"/>
                  </a:lnTo>
                  <a:lnTo>
                    <a:pt x="0" y="0"/>
                  </a:lnTo>
                  <a:close/>
                </a:path>
              </a:pathLst>
            </a:custGeom>
            <a:solidFill>
              <a:srgbClr val="000000">
                <a:alpha val="0"/>
              </a:srgbClr>
            </a:solidFill>
            <a:ln w="12700">
              <a:solidFill>
                <a:srgbClr val="000000"/>
              </a:solidFill>
            </a:ln>
          </p:spPr>
        </p:sp>
      </p:grpSp>
      <p:grpSp>
        <p:nvGrpSpPr>
          <p:cNvPr id="7" name="Group 7"/>
          <p:cNvGrpSpPr/>
          <p:nvPr/>
        </p:nvGrpSpPr>
        <p:grpSpPr>
          <a:xfrm>
            <a:off x="0" y="0"/>
            <a:ext cx="18488728" cy="1966385"/>
            <a:chOff x="0" y="0"/>
            <a:chExt cx="24651637" cy="2621846"/>
          </a:xfrm>
        </p:grpSpPr>
        <p:sp>
          <p:nvSpPr>
            <p:cNvPr id="8" name="Freeform 8"/>
            <p:cNvSpPr/>
            <p:nvPr/>
          </p:nvSpPr>
          <p:spPr>
            <a:xfrm>
              <a:off x="0" y="0"/>
              <a:ext cx="24651637" cy="2491235"/>
            </a:xfrm>
            <a:custGeom>
              <a:avLst/>
              <a:gdLst/>
              <a:ahLst/>
              <a:cxnLst/>
              <a:rect l="l" t="t" r="r" b="b"/>
              <a:pathLst>
                <a:path w="24651637" h="2491235">
                  <a:moveTo>
                    <a:pt x="0" y="0"/>
                  </a:moveTo>
                  <a:lnTo>
                    <a:pt x="24651637" y="0"/>
                  </a:lnTo>
                  <a:lnTo>
                    <a:pt x="24651637" y="2491235"/>
                  </a:lnTo>
                  <a:lnTo>
                    <a:pt x="0" y="2491235"/>
                  </a:lnTo>
                  <a:lnTo>
                    <a:pt x="0" y="0"/>
                  </a:lnTo>
                  <a:close/>
                </a:path>
              </a:pathLst>
            </a:custGeom>
            <a:blipFill>
              <a:blip r:embed="rId2"/>
              <a:stretch>
                <a:fillRect t="-442" b="-442"/>
              </a:stretch>
            </a:blipFill>
          </p:spPr>
        </p:sp>
        <p:sp>
          <p:nvSpPr>
            <p:cNvPr id="9" name="Freeform 9"/>
            <p:cNvSpPr/>
            <p:nvPr/>
          </p:nvSpPr>
          <p:spPr>
            <a:xfrm>
              <a:off x="20688757" y="0"/>
              <a:ext cx="3962880" cy="2621846"/>
            </a:xfrm>
            <a:custGeom>
              <a:avLst/>
              <a:gdLst/>
              <a:ahLst/>
              <a:cxnLst/>
              <a:rect l="l" t="t" r="r" b="b"/>
              <a:pathLst>
                <a:path w="3962880" h="2621846">
                  <a:moveTo>
                    <a:pt x="0" y="0"/>
                  </a:moveTo>
                  <a:lnTo>
                    <a:pt x="3962880" y="0"/>
                  </a:lnTo>
                  <a:lnTo>
                    <a:pt x="3962880" y="2621846"/>
                  </a:lnTo>
                  <a:lnTo>
                    <a:pt x="0" y="2621846"/>
                  </a:lnTo>
                  <a:lnTo>
                    <a:pt x="0" y="0"/>
                  </a:lnTo>
                  <a:close/>
                </a:path>
              </a:pathLst>
            </a:custGeom>
            <a:blipFill>
              <a:blip r:embed="rId3"/>
              <a:stretch>
                <a:fillRect t="-442" b="-442"/>
              </a:stretch>
            </a:blipFill>
          </p:spPr>
        </p:sp>
      </p:grpSp>
      <p:sp>
        <p:nvSpPr>
          <p:cNvPr id="10" name="Freeform 10"/>
          <p:cNvSpPr/>
          <p:nvPr/>
        </p:nvSpPr>
        <p:spPr>
          <a:xfrm>
            <a:off x="-9525" y="10149893"/>
            <a:ext cx="18336006" cy="146589"/>
          </a:xfrm>
          <a:custGeom>
            <a:avLst/>
            <a:gdLst/>
            <a:ahLst/>
            <a:cxnLst/>
            <a:rect l="l" t="t" r="r" b="b"/>
            <a:pathLst>
              <a:path w="18336006" h="146589">
                <a:moveTo>
                  <a:pt x="0" y="0"/>
                </a:moveTo>
                <a:lnTo>
                  <a:pt x="18336006" y="0"/>
                </a:lnTo>
                <a:lnTo>
                  <a:pt x="18336006" y="146589"/>
                </a:lnTo>
                <a:lnTo>
                  <a:pt x="0" y="146589"/>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grpSp>
        <p:nvGrpSpPr>
          <p:cNvPr id="11" name="Group 11"/>
          <p:cNvGrpSpPr/>
          <p:nvPr/>
        </p:nvGrpSpPr>
        <p:grpSpPr>
          <a:xfrm>
            <a:off x="1257300" y="9505950"/>
            <a:ext cx="4114800" cy="576263"/>
            <a:chOff x="0" y="0"/>
            <a:chExt cx="5486400" cy="768351"/>
          </a:xfrm>
        </p:grpSpPr>
        <p:sp>
          <p:nvSpPr>
            <p:cNvPr id="12" name="Freeform 12"/>
            <p:cNvSpPr/>
            <p:nvPr/>
          </p:nvSpPr>
          <p:spPr>
            <a:xfrm>
              <a:off x="0" y="0"/>
              <a:ext cx="5486400" cy="768351"/>
            </a:xfrm>
            <a:custGeom>
              <a:avLst/>
              <a:gdLst/>
              <a:ahLst/>
              <a:cxnLst/>
              <a:rect l="l" t="t" r="r" b="b"/>
              <a:pathLst>
                <a:path w="5486400" h="768351">
                  <a:moveTo>
                    <a:pt x="0" y="0"/>
                  </a:moveTo>
                  <a:lnTo>
                    <a:pt x="5486400" y="0"/>
                  </a:lnTo>
                  <a:lnTo>
                    <a:pt x="5486400" y="768351"/>
                  </a:lnTo>
                  <a:lnTo>
                    <a:pt x="0" y="768351"/>
                  </a:lnTo>
                  <a:close/>
                </a:path>
              </a:pathLst>
            </a:custGeom>
            <a:solidFill>
              <a:srgbClr val="000000">
                <a:alpha val="0"/>
              </a:srgbClr>
            </a:solidFill>
          </p:spPr>
        </p:sp>
        <p:sp>
          <p:nvSpPr>
            <p:cNvPr id="13" name="TextBox 13"/>
            <p:cNvSpPr txBox="1"/>
            <p:nvPr/>
          </p:nvSpPr>
          <p:spPr>
            <a:xfrm>
              <a:off x="0" y="-38100"/>
              <a:ext cx="5486400" cy="806451"/>
            </a:xfrm>
            <a:prstGeom prst="rect">
              <a:avLst/>
            </a:prstGeom>
          </p:spPr>
          <p:txBody>
            <a:bodyPr lIns="0" tIns="0" rIns="0" bIns="0" rtlCol="0" anchor="ctr"/>
            <a:lstStyle/>
            <a:p>
              <a:pPr algn="l">
                <a:lnSpc>
                  <a:spcPts val="2160"/>
                </a:lnSpc>
              </a:pPr>
              <a:r>
                <a:rPr lang="en-US" sz="1800">
                  <a:solidFill>
                    <a:srgbClr val="898989"/>
                  </a:solidFill>
                  <a:latin typeface="Calibri (MS)" panose="020F0502020204030204"/>
                  <a:ea typeface="Calibri (MS)" panose="020F0502020204030204"/>
                  <a:cs typeface="Calibri (MS)" panose="020F0502020204030204"/>
                  <a:sym typeface="Calibri (MS)" panose="020F0502020204030204"/>
                </a:rPr>
                <a:t>1/24/2026</a:t>
              </a:r>
            </a:p>
          </p:txBody>
        </p:sp>
      </p:grpSp>
      <p:grpSp>
        <p:nvGrpSpPr>
          <p:cNvPr id="14" name="Group 14"/>
          <p:cNvGrpSpPr/>
          <p:nvPr/>
        </p:nvGrpSpPr>
        <p:grpSpPr>
          <a:xfrm>
            <a:off x="11772900" y="10117531"/>
            <a:ext cx="3200400" cy="561976"/>
            <a:chOff x="0" y="0"/>
            <a:chExt cx="4267200" cy="749301"/>
          </a:xfrm>
        </p:grpSpPr>
        <p:sp>
          <p:nvSpPr>
            <p:cNvPr id="15" name="Freeform 15"/>
            <p:cNvSpPr/>
            <p:nvPr/>
          </p:nvSpPr>
          <p:spPr>
            <a:xfrm>
              <a:off x="0" y="0"/>
              <a:ext cx="4267200" cy="749301"/>
            </a:xfrm>
            <a:custGeom>
              <a:avLst/>
              <a:gdLst/>
              <a:ahLst/>
              <a:cxnLst/>
              <a:rect l="l" t="t" r="r" b="b"/>
              <a:pathLst>
                <a:path w="4267200" h="749301">
                  <a:moveTo>
                    <a:pt x="0" y="0"/>
                  </a:moveTo>
                  <a:lnTo>
                    <a:pt x="4267200" y="0"/>
                  </a:lnTo>
                  <a:lnTo>
                    <a:pt x="4267200" y="749301"/>
                  </a:lnTo>
                  <a:lnTo>
                    <a:pt x="0" y="749301"/>
                  </a:lnTo>
                  <a:close/>
                </a:path>
              </a:pathLst>
            </a:custGeom>
            <a:solidFill>
              <a:srgbClr val="000000">
                <a:alpha val="0"/>
              </a:srgbClr>
            </a:solidFill>
          </p:spPr>
        </p:sp>
        <p:sp>
          <p:nvSpPr>
            <p:cNvPr id="16" name="TextBox 16"/>
            <p:cNvSpPr txBox="1"/>
            <p:nvPr/>
          </p:nvSpPr>
          <p:spPr>
            <a:xfrm>
              <a:off x="0" y="-19050"/>
              <a:ext cx="4267200" cy="768351"/>
            </a:xfrm>
            <a:prstGeom prst="rect">
              <a:avLst/>
            </a:prstGeom>
          </p:spPr>
          <p:txBody>
            <a:bodyPr lIns="0" tIns="0" rIns="0" bIns="0" rtlCol="0" anchor="ctr"/>
            <a:lstStyle/>
            <a:p>
              <a:pPr algn="r">
                <a:lnSpc>
                  <a:spcPts val="1890"/>
                </a:lnSpc>
              </a:pPr>
              <a:r>
                <a:rPr lang="en-US" sz="1575">
                  <a:solidFill>
                    <a:srgbClr val="888888"/>
                  </a:solidFill>
                  <a:latin typeface="Calibri (MS)" panose="020F0502020204030204"/>
                  <a:ea typeface="Calibri (MS)" panose="020F0502020204030204"/>
                  <a:cs typeface="Calibri (MS)" panose="020F0502020204030204"/>
                  <a:sym typeface="Calibri (MS)" panose="020F0502020204030204"/>
                </a:rPr>
                <a:t>2</a:t>
              </a:r>
            </a:p>
          </p:txBody>
        </p:sp>
      </p:grpSp>
      <p:sp>
        <p:nvSpPr>
          <p:cNvPr id="17" name="TextBox 17"/>
          <p:cNvSpPr txBox="1"/>
          <p:nvPr/>
        </p:nvSpPr>
        <p:spPr>
          <a:xfrm>
            <a:off x="5332950" y="1980838"/>
            <a:ext cx="8076567" cy="1747519"/>
          </a:xfrm>
          <a:prstGeom prst="rect">
            <a:avLst/>
          </a:prstGeom>
        </p:spPr>
        <p:txBody>
          <a:bodyPr lIns="0" tIns="0" rIns="0" bIns="0" rtlCol="0" anchor="t">
            <a:spAutoFit/>
          </a:bodyPr>
          <a:lstStyle/>
          <a:p>
            <a:pPr algn="ctr">
              <a:lnSpc>
                <a:spcPts val="12880"/>
              </a:lnSpc>
            </a:pPr>
            <a:r>
              <a:rPr lang="en-US" sz="9200" b="1" dirty="0">
                <a:solidFill>
                  <a:srgbClr val="000000"/>
                </a:solidFill>
                <a:latin typeface="Calibri (MS) Bold" panose="020F0702030404030204"/>
                <a:ea typeface="Calibri (MS) Bold" panose="020F0702030404030204"/>
                <a:cs typeface="Calibri (MS) Bold" panose="020F0702030404030204"/>
                <a:sym typeface="Calibri (MS) Bold" panose="020F0702030404030204"/>
              </a:rPr>
              <a:t>Future Roadmap</a:t>
            </a:r>
          </a:p>
        </p:txBody>
      </p:sp>
      <p:sp>
        <p:nvSpPr>
          <p:cNvPr id="27" name="TextBox 26">
            <a:extLst>
              <a:ext uri="{FF2B5EF4-FFF2-40B4-BE49-F238E27FC236}">
                <a16:creationId xmlns:a16="http://schemas.microsoft.com/office/drawing/2014/main" xmlns="" id="{69B52908-C527-88CE-C85D-9D937C68745D}"/>
              </a:ext>
            </a:extLst>
          </p:cNvPr>
          <p:cNvSpPr txBox="1"/>
          <p:nvPr/>
        </p:nvSpPr>
        <p:spPr>
          <a:xfrm>
            <a:off x="4343400" y="4439630"/>
            <a:ext cx="9715500" cy="2554545"/>
          </a:xfrm>
          <a:prstGeom prst="rect">
            <a:avLst/>
          </a:prstGeom>
          <a:noFill/>
        </p:spPr>
        <p:txBody>
          <a:bodyPr wrap="square">
            <a:spAutoFit/>
          </a:bodyPr>
          <a:lstStyle/>
          <a:p>
            <a:pPr algn="ctr">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Expand to more data sources for wider coverage</a:t>
            </a:r>
          </a:p>
          <a:p>
            <a:pPr algn="ctr">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Add predictive capabilities to anticipate spikes</a:t>
            </a:r>
          </a:p>
          <a:p>
            <a:pPr algn="ctr">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Improve efficiency using smarter monitoring strategies</a:t>
            </a:r>
          </a:p>
          <a:p>
            <a:pPr algn="ctr">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Integrate real-time alerts for critical events</a:t>
            </a:r>
          </a:p>
          <a:p>
            <a:pPr algn="ctr">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Incorporate AI learning to continuously adapt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058900" y="9415306"/>
            <a:ext cx="3200400" cy="561938"/>
            <a:chOff x="0" y="0"/>
            <a:chExt cx="4267200" cy="749250"/>
          </a:xfrm>
        </p:grpSpPr>
        <p:sp>
          <p:nvSpPr>
            <p:cNvPr id="3" name="Freeform 3"/>
            <p:cNvSpPr/>
            <p:nvPr/>
          </p:nvSpPr>
          <p:spPr>
            <a:xfrm>
              <a:off x="0" y="0"/>
              <a:ext cx="4267200" cy="749250"/>
            </a:xfrm>
            <a:custGeom>
              <a:avLst/>
              <a:gdLst/>
              <a:ahLst/>
              <a:cxnLst/>
              <a:rect l="l" t="t" r="r" b="b"/>
              <a:pathLst>
                <a:path w="4267200" h="749250">
                  <a:moveTo>
                    <a:pt x="0" y="0"/>
                  </a:moveTo>
                  <a:lnTo>
                    <a:pt x="4267200" y="0"/>
                  </a:lnTo>
                  <a:lnTo>
                    <a:pt x="4267200" y="749250"/>
                  </a:lnTo>
                  <a:lnTo>
                    <a:pt x="0" y="749250"/>
                  </a:lnTo>
                  <a:close/>
                </a:path>
              </a:pathLst>
            </a:custGeom>
            <a:solidFill>
              <a:srgbClr val="000000">
                <a:alpha val="0"/>
              </a:srgbClr>
            </a:solidFill>
          </p:spPr>
        </p:sp>
        <p:sp>
          <p:nvSpPr>
            <p:cNvPr id="4" name="TextBox 4"/>
            <p:cNvSpPr txBox="1"/>
            <p:nvPr/>
          </p:nvSpPr>
          <p:spPr>
            <a:xfrm>
              <a:off x="0" y="-19050"/>
              <a:ext cx="4267200" cy="768300"/>
            </a:xfrm>
            <a:prstGeom prst="rect">
              <a:avLst/>
            </a:prstGeom>
          </p:spPr>
          <p:txBody>
            <a:bodyPr lIns="0" tIns="0" rIns="0" bIns="0" rtlCol="0" anchor="ctr"/>
            <a:lstStyle/>
            <a:p>
              <a:pPr algn="r">
                <a:lnSpc>
                  <a:spcPts val="1890"/>
                </a:lnSpc>
              </a:pPr>
              <a:r>
                <a:rPr lang="en-US" sz="1575">
                  <a:solidFill>
                    <a:srgbClr val="888888"/>
                  </a:solidFill>
                  <a:latin typeface="Calibri (MS)" panose="020F0502020204030204"/>
                  <a:ea typeface="Calibri (MS)" panose="020F0502020204030204"/>
                  <a:cs typeface="Calibri (MS)" panose="020F0502020204030204"/>
                  <a:sym typeface="Calibri (MS)" panose="020F0502020204030204"/>
                </a:rPr>
                <a:t>10</a:t>
              </a:r>
            </a:p>
          </p:txBody>
        </p:sp>
      </p:grpSp>
      <p:grpSp>
        <p:nvGrpSpPr>
          <p:cNvPr id="5" name="Group 5"/>
          <p:cNvGrpSpPr/>
          <p:nvPr/>
        </p:nvGrpSpPr>
        <p:grpSpPr>
          <a:xfrm>
            <a:off x="-9525" y="-38100"/>
            <a:ext cx="18335982" cy="1879438"/>
            <a:chOff x="0" y="0"/>
            <a:chExt cx="24447976" cy="2505917"/>
          </a:xfrm>
        </p:grpSpPr>
        <p:sp>
          <p:nvSpPr>
            <p:cNvPr id="6" name="Freeform 6"/>
            <p:cNvSpPr/>
            <p:nvPr/>
          </p:nvSpPr>
          <p:spPr>
            <a:xfrm>
              <a:off x="0" y="0"/>
              <a:ext cx="24448008" cy="2505964"/>
            </a:xfrm>
            <a:custGeom>
              <a:avLst/>
              <a:gdLst/>
              <a:ahLst/>
              <a:cxnLst/>
              <a:rect l="l" t="t" r="r" b="b"/>
              <a:pathLst>
                <a:path w="24448008" h="2505964">
                  <a:moveTo>
                    <a:pt x="0" y="0"/>
                  </a:moveTo>
                  <a:lnTo>
                    <a:pt x="24448008" y="0"/>
                  </a:lnTo>
                  <a:lnTo>
                    <a:pt x="24448008" y="2505964"/>
                  </a:lnTo>
                  <a:lnTo>
                    <a:pt x="0" y="2505964"/>
                  </a:lnTo>
                  <a:lnTo>
                    <a:pt x="0" y="0"/>
                  </a:lnTo>
                  <a:close/>
                </a:path>
              </a:pathLst>
            </a:custGeom>
            <a:solidFill>
              <a:srgbClr val="000000">
                <a:alpha val="0"/>
              </a:srgbClr>
            </a:solidFill>
            <a:ln w="12700">
              <a:solidFill>
                <a:srgbClr val="000000"/>
              </a:solidFill>
            </a:ln>
          </p:spPr>
        </p:sp>
      </p:grpSp>
      <p:grpSp>
        <p:nvGrpSpPr>
          <p:cNvPr id="7" name="Group 7"/>
          <p:cNvGrpSpPr/>
          <p:nvPr/>
        </p:nvGrpSpPr>
        <p:grpSpPr>
          <a:xfrm>
            <a:off x="-76962" y="-38100"/>
            <a:ext cx="18488728" cy="1966385"/>
            <a:chOff x="0" y="0"/>
            <a:chExt cx="24651637" cy="2621846"/>
          </a:xfrm>
        </p:grpSpPr>
        <p:sp>
          <p:nvSpPr>
            <p:cNvPr id="8" name="Freeform 8"/>
            <p:cNvSpPr/>
            <p:nvPr/>
          </p:nvSpPr>
          <p:spPr>
            <a:xfrm>
              <a:off x="0" y="0"/>
              <a:ext cx="24651637" cy="2491235"/>
            </a:xfrm>
            <a:custGeom>
              <a:avLst/>
              <a:gdLst/>
              <a:ahLst/>
              <a:cxnLst/>
              <a:rect l="l" t="t" r="r" b="b"/>
              <a:pathLst>
                <a:path w="24651637" h="2491235">
                  <a:moveTo>
                    <a:pt x="0" y="0"/>
                  </a:moveTo>
                  <a:lnTo>
                    <a:pt x="24651637" y="0"/>
                  </a:lnTo>
                  <a:lnTo>
                    <a:pt x="24651637" y="2491235"/>
                  </a:lnTo>
                  <a:lnTo>
                    <a:pt x="0" y="2491235"/>
                  </a:lnTo>
                  <a:lnTo>
                    <a:pt x="0" y="0"/>
                  </a:lnTo>
                  <a:close/>
                </a:path>
              </a:pathLst>
            </a:custGeom>
            <a:blipFill>
              <a:blip r:embed="rId2"/>
              <a:stretch>
                <a:fillRect t="-442" b="-442"/>
              </a:stretch>
            </a:blipFill>
          </p:spPr>
        </p:sp>
        <p:sp>
          <p:nvSpPr>
            <p:cNvPr id="9" name="Freeform 9"/>
            <p:cNvSpPr/>
            <p:nvPr/>
          </p:nvSpPr>
          <p:spPr>
            <a:xfrm>
              <a:off x="20688757" y="0"/>
              <a:ext cx="3962880" cy="2621846"/>
            </a:xfrm>
            <a:custGeom>
              <a:avLst/>
              <a:gdLst/>
              <a:ahLst/>
              <a:cxnLst/>
              <a:rect l="l" t="t" r="r" b="b"/>
              <a:pathLst>
                <a:path w="3962880" h="2621846">
                  <a:moveTo>
                    <a:pt x="0" y="0"/>
                  </a:moveTo>
                  <a:lnTo>
                    <a:pt x="3962880" y="0"/>
                  </a:lnTo>
                  <a:lnTo>
                    <a:pt x="3962880" y="2621846"/>
                  </a:lnTo>
                  <a:lnTo>
                    <a:pt x="0" y="2621846"/>
                  </a:lnTo>
                  <a:lnTo>
                    <a:pt x="0" y="0"/>
                  </a:lnTo>
                  <a:close/>
                </a:path>
              </a:pathLst>
            </a:custGeom>
            <a:blipFill>
              <a:blip r:embed="rId3"/>
              <a:stretch>
                <a:fillRect t="-442" b="-442"/>
              </a:stretch>
            </a:blipFill>
          </p:spPr>
        </p:sp>
      </p:grpSp>
      <p:sp>
        <p:nvSpPr>
          <p:cNvPr id="10" name="Freeform 10"/>
          <p:cNvSpPr/>
          <p:nvPr/>
        </p:nvSpPr>
        <p:spPr>
          <a:xfrm>
            <a:off x="-9525" y="10149893"/>
            <a:ext cx="18336006" cy="146589"/>
          </a:xfrm>
          <a:custGeom>
            <a:avLst/>
            <a:gdLst/>
            <a:ahLst/>
            <a:cxnLst/>
            <a:rect l="l" t="t" r="r" b="b"/>
            <a:pathLst>
              <a:path w="18336006" h="146589">
                <a:moveTo>
                  <a:pt x="0" y="0"/>
                </a:moveTo>
                <a:lnTo>
                  <a:pt x="18336006" y="0"/>
                </a:lnTo>
                <a:lnTo>
                  <a:pt x="18336006" y="146589"/>
                </a:lnTo>
                <a:lnTo>
                  <a:pt x="0" y="146589"/>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grpSp>
        <p:nvGrpSpPr>
          <p:cNvPr id="11" name="Group 11"/>
          <p:cNvGrpSpPr/>
          <p:nvPr/>
        </p:nvGrpSpPr>
        <p:grpSpPr>
          <a:xfrm>
            <a:off x="1257300" y="9505950"/>
            <a:ext cx="4114800" cy="576263"/>
            <a:chOff x="0" y="0"/>
            <a:chExt cx="5486400" cy="768351"/>
          </a:xfrm>
        </p:grpSpPr>
        <p:sp>
          <p:nvSpPr>
            <p:cNvPr id="12" name="Freeform 12"/>
            <p:cNvSpPr/>
            <p:nvPr/>
          </p:nvSpPr>
          <p:spPr>
            <a:xfrm>
              <a:off x="0" y="0"/>
              <a:ext cx="5486400" cy="768351"/>
            </a:xfrm>
            <a:custGeom>
              <a:avLst/>
              <a:gdLst/>
              <a:ahLst/>
              <a:cxnLst/>
              <a:rect l="l" t="t" r="r" b="b"/>
              <a:pathLst>
                <a:path w="5486400" h="768351">
                  <a:moveTo>
                    <a:pt x="0" y="0"/>
                  </a:moveTo>
                  <a:lnTo>
                    <a:pt x="5486400" y="0"/>
                  </a:lnTo>
                  <a:lnTo>
                    <a:pt x="5486400" y="768351"/>
                  </a:lnTo>
                  <a:lnTo>
                    <a:pt x="0" y="768351"/>
                  </a:lnTo>
                  <a:close/>
                </a:path>
              </a:pathLst>
            </a:custGeom>
            <a:solidFill>
              <a:srgbClr val="000000">
                <a:alpha val="0"/>
              </a:srgbClr>
            </a:solidFill>
          </p:spPr>
        </p:sp>
        <p:sp>
          <p:nvSpPr>
            <p:cNvPr id="13" name="TextBox 13"/>
            <p:cNvSpPr txBox="1"/>
            <p:nvPr/>
          </p:nvSpPr>
          <p:spPr>
            <a:xfrm>
              <a:off x="0" y="-38100"/>
              <a:ext cx="5486400" cy="806451"/>
            </a:xfrm>
            <a:prstGeom prst="rect">
              <a:avLst/>
            </a:prstGeom>
          </p:spPr>
          <p:txBody>
            <a:bodyPr lIns="0" tIns="0" rIns="0" bIns="0" rtlCol="0" anchor="ctr"/>
            <a:lstStyle/>
            <a:p>
              <a:pPr algn="l">
                <a:lnSpc>
                  <a:spcPts val="2160"/>
                </a:lnSpc>
              </a:pPr>
              <a:r>
                <a:rPr lang="en-US" sz="1800">
                  <a:solidFill>
                    <a:srgbClr val="898989"/>
                  </a:solidFill>
                  <a:latin typeface="Calibri (MS)" panose="020F0502020204030204"/>
                  <a:ea typeface="Calibri (MS)" panose="020F0502020204030204"/>
                  <a:cs typeface="Calibri (MS)" panose="020F0502020204030204"/>
                  <a:sym typeface="Calibri (MS)" panose="020F0502020204030204"/>
                </a:rPr>
                <a:t>1/24/2026</a:t>
              </a:r>
            </a:p>
          </p:txBody>
        </p:sp>
      </p:grpSp>
      <p:grpSp>
        <p:nvGrpSpPr>
          <p:cNvPr id="14" name="Group 14"/>
          <p:cNvGrpSpPr/>
          <p:nvPr/>
        </p:nvGrpSpPr>
        <p:grpSpPr>
          <a:xfrm>
            <a:off x="11772900" y="10117531"/>
            <a:ext cx="3200400" cy="561976"/>
            <a:chOff x="0" y="0"/>
            <a:chExt cx="4267200" cy="749301"/>
          </a:xfrm>
        </p:grpSpPr>
        <p:sp>
          <p:nvSpPr>
            <p:cNvPr id="15" name="Freeform 15"/>
            <p:cNvSpPr/>
            <p:nvPr/>
          </p:nvSpPr>
          <p:spPr>
            <a:xfrm>
              <a:off x="0" y="0"/>
              <a:ext cx="4267200" cy="749301"/>
            </a:xfrm>
            <a:custGeom>
              <a:avLst/>
              <a:gdLst/>
              <a:ahLst/>
              <a:cxnLst/>
              <a:rect l="l" t="t" r="r" b="b"/>
              <a:pathLst>
                <a:path w="4267200" h="749301">
                  <a:moveTo>
                    <a:pt x="0" y="0"/>
                  </a:moveTo>
                  <a:lnTo>
                    <a:pt x="4267200" y="0"/>
                  </a:lnTo>
                  <a:lnTo>
                    <a:pt x="4267200" y="749301"/>
                  </a:lnTo>
                  <a:lnTo>
                    <a:pt x="0" y="749301"/>
                  </a:lnTo>
                  <a:close/>
                </a:path>
              </a:pathLst>
            </a:custGeom>
            <a:solidFill>
              <a:srgbClr val="000000">
                <a:alpha val="0"/>
              </a:srgbClr>
            </a:solidFill>
          </p:spPr>
        </p:sp>
        <p:sp>
          <p:nvSpPr>
            <p:cNvPr id="16" name="TextBox 16"/>
            <p:cNvSpPr txBox="1"/>
            <p:nvPr/>
          </p:nvSpPr>
          <p:spPr>
            <a:xfrm>
              <a:off x="0" y="-19050"/>
              <a:ext cx="4267200" cy="768351"/>
            </a:xfrm>
            <a:prstGeom prst="rect">
              <a:avLst/>
            </a:prstGeom>
          </p:spPr>
          <p:txBody>
            <a:bodyPr lIns="0" tIns="0" rIns="0" bIns="0" rtlCol="0" anchor="ctr"/>
            <a:lstStyle/>
            <a:p>
              <a:pPr algn="r">
                <a:lnSpc>
                  <a:spcPts val="1890"/>
                </a:lnSpc>
              </a:pPr>
              <a:r>
                <a:rPr lang="en-US" sz="1575">
                  <a:solidFill>
                    <a:srgbClr val="888888"/>
                  </a:solidFill>
                  <a:latin typeface="Calibri (MS)" panose="020F0502020204030204"/>
                  <a:ea typeface="Calibri (MS)" panose="020F0502020204030204"/>
                  <a:cs typeface="Calibri (MS)" panose="020F0502020204030204"/>
                  <a:sym typeface="Calibri (MS)" panose="020F0502020204030204"/>
                </a:rPr>
                <a:t>2</a:t>
              </a:r>
            </a:p>
          </p:txBody>
        </p:sp>
      </p:grpSp>
      <p:sp>
        <p:nvSpPr>
          <p:cNvPr id="17" name="TextBox 17"/>
          <p:cNvSpPr txBox="1"/>
          <p:nvPr/>
        </p:nvSpPr>
        <p:spPr>
          <a:xfrm>
            <a:off x="5220493" y="2014022"/>
            <a:ext cx="8076567" cy="1517275"/>
          </a:xfrm>
          <a:prstGeom prst="rect">
            <a:avLst/>
          </a:prstGeom>
        </p:spPr>
        <p:txBody>
          <a:bodyPr lIns="0" tIns="0" rIns="0" bIns="0" rtlCol="0" anchor="t">
            <a:spAutoFit/>
          </a:bodyPr>
          <a:lstStyle/>
          <a:p>
            <a:pPr algn="ctr">
              <a:lnSpc>
                <a:spcPts val="12880"/>
              </a:lnSpc>
            </a:pPr>
            <a:r>
              <a:rPr lang="en-US" sz="9200" b="1" dirty="0">
                <a:solidFill>
                  <a:srgbClr val="000000"/>
                </a:solidFill>
                <a:latin typeface="Times New Roman" panose="02020603050405020304" pitchFamily="18" charset="0"/>
                <a:ea typeface="Calibri (MS) Bold" panose="020F0702030404030204"/>
                <a:cs typeface="Times New Roman" panose="02020603050405020304" pitchFamily="18" charset="0"/>
                <a:sym typeface="Calibri (MS) Bold" panose="020F0702030404030204"/>
              </a:rPr>
              <a:t>Conclusion</a:t>
            </a:r>
          </a:p>
        </p:txBody>
      </p:sp>
      <p:sp>
        <p:nvSpPr>
          <p:cNvPr id="28" name="Rectangle 1">
            <a:extLst>
              <a:ext uri="{FF2B5EF4-FFF2-40B4-BE49-F238E27FC236}">
                <a16:creationId xmlns:a16="http://schemas.microsoft.com/office/drawing/2014/main" xmlns="" id="{E3321EB4-C9FE-4CE4-7EF9-BC3ADB3803A7}"/>
              </a:ext>
            </a:extLst>
          </p:cNvPr>
          <p:cNvSpPr>
            <a:spLocks noChangeArrowheads="1"/>
          </p:cNvSpPr>
          <p:nvPr/>
        </p:nvSpPr>
        <p:spPr bwMode="auto">
          <a:xfrm>
            <a:off x="2609850" y="4400320"/>
            <a:ext cx="12829756" cy="267765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builds a smart, adaptive agent that monitors data efficiently.</a:t>
            </a:r>
          </a:p>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avoids unnecessary costs by ignoring stable or irrelevant sources.</a:t>
            </a:r>
          </a:p>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agent reacts quickly to sudden spikes or important changes in data.</a:t>
            </a:r>
          </a:p>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Demonstrates the ability to filter noise, make intelligent decisions, and save resources.</a:t>
            </a:r>
          </a:p>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Overall, the solution shows how automation and pattern recognition can make monitoring systems both cost-effective and reliable</a:t>
            </a:r>
            <a:r>
              <a:rPr kumimoji="0" lang="en-US" altLang="en-US" sz="1800" i="0" u="none" strike="noStrike" cap="none" normalizeH="0" baseline="0" dirty="0">
                <a:ln>
                  <a:noFill/>
                </a:ln>
                <a:solidFill>
                  <a:schemeClr val="tx1"/>
                </a:solidFill>
                <a:effectLst/>
                <a:latin typeface="Arial" panose="020B0604020202020204" pitchFamily="34" charset="0"/>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373395">
            <a:off x="2729282" y="1085153"/>
            <a:ext cx="1240334" cy="9525"/>
            <a:chOff x="0" y="0"/>
            <a:chExt cx="1653779" cy="12700"/>
          </a:xfrm>
        </p:grpSpPr>
        <p:sp>
          <p:nvSpPr>
            <p:cNvPr id="3" name="Freeform 3"/>
            <p:cNvSpPr/>
            <p:nvPr/>
          </p:nvSpPr>
          <p:spPr>
            <a:xfrm>
              <a:off x="0" y="0"/>
              <a:ext cx="1653794" cy="12700"/>
            </a:xfrm>
            <a:custGeom>
              <a:avLst/>
              <a:gdLst/>
              <a:ahLst/>
              <a:cxnLst/>
              <a:rect l="l" t="t" r="r" b="b"/>
              <a:pathLst>
                <a:path w="1653794" h="12700">
                  <a:moveTo>
                    <a:pt x="6350" y="0"/>
                  </a:moveTo>
                  <a:lnTo>
                    <a:pt x="1647444" y="0"/>
                  </a:lnTo>
                  <a:cubicBezTo>
                    <a:pt x="1651000" y="0"/>
                    <a:pt x="1653794" y="2794"/>
                    <a:pt x="1653794" y="6350"/>
                  </a:cubicBezTo>
                  <a:cubicBezTo>
                    <a:pt x="1653794" y="9906"/>
                    <a:pt x="1651000" y="12700"/>
                    <a:pt x="1647444" y="12700"/>
                  </a:cubicBezTo>
                  <a:lnTo>
                    <a:pt x="6350" y="12700"/>
                  </a:lnTo>
                  <a:cubicBezTo>
                    <a:pt x="2794" y="12700"/>
                    <a:pt x="0" y="9906"/>
                    <a:pt x="0" y="6350"/>
                  </a:cubicBezTo>
                  <a:cubicBezTo>
                    <a:pt x="0" y="2794"/>
                    <a:pt x="2794" y="0"/>
                    <a:pt x="6350" y="0"/>
                  </a:cubicBezTo>
                  <a:close/>
                </a:path>
              </a:pathLst>
            </a:custGeom>
            <a:solidFill>
              <a:srgbClr val="FFFFFF"/>
            </a:solidFill>
          </p:spPr>
        </p:sp>
      </p:grpSp>
      <p:sp>
        <p:nvSpPr>
          <p:cNvPr id="4" name="TextBox 4"/>
          <p:cNvSpPr txBox="1"/>
          <p:nvPr/>
        </p:nvSpPr>
        <p:spPr>
          <a:xfrm>
            <a:off x="5105717" y="4093528"/>
            <a:ext cx="8076567" cy="1747519"/>
          </a:xfrm>
          <a:prstGeom prst="rect">
            <a:avLst/>
          </a:prstGeom>
        </p:spPr>
        <p:txBody>
          <a:bodyPr lIns="0" tIns="0" rIns="0" bIns="0" rtlCol="0" anchor="t">
            <a:spAutoFit/>
          </a:bodyPr>
          <a:lstStyle/>
          <a:p>
            <a:pPr algn="ctr">
              <a:lnSpc>
                <a:spcPts val="12880"/>
              </a:lnSpc>
            </a:pPr>
            <a:r>
              <a:rPr lang="en-US" sz="9200" b="1">
                <a:solidFill>
                  <a:srgbClr val="000000"/>
                </a:solidFill>
                <a:latin typeface="Calibri (MS) Bold" panose="020F0702030404030204"/>
                <a:ea typeface="Calibri (MS) Bold" panose="020F0702030404030204"/>
                <a:cs typeface="Calibri (MS) Bold" panose="020F0702030404030204"/>
                <a:sym typeface="Calibri (MS) Bold" panose="020F0702030404030204"/>
              </a:rPr>
              <a:t>THANK YOU</a:t>
            </a:r>
          </a:p>
        </p:txBody>
      </p:sp>
      <p:grpSp>
        <p:nvGrpSpPr>
          <p:cNvPr id="5" name="Group 5"/>
          <p:cNvGrpSpPr/>
          <p:nvPr/>
        </p:nvGrpSpPr>
        <p:grpSpPr>
          <a:xfrm>
            <a:off x="14058900" y="9415306"/>
            <a:ext cx="3200400" cy="561938"/>
            <a:chOff x="0" y="0"/>
            <a:chExt cx="4267200" cy="749250"/>
          </a:xfrm>
        </p:grpSpPr>
        <p:sp>
          <p:nvSpPr>
            <p:cNvPr id="6" name="Freeform 6"/>
            <p:cNvSpPr/>
            <p:nvPr/>
          </p:nvSpPr>
          <p:spPr>
            <a:xfrm>
              <a:off x="0" y="0"/>
              <a:ext cx="4267200" cy="749250"/>
            </a:xfrm>
            <a:custGeom>
              <a:avLst/>
              <a:gdLst/>
              <a:ahLst/>
              <a:cxnLst/>
              <a:rect l="l" t="t" r="r" b="b"/>
              <a:pathLst>
                <a:path w="4267200" h="749250">
                  <a:moveTo>
                    <a:pt x="0" y="0"/>
                  </a:moveTo>
                  <a:lnTo>
                    <a:pt x="4267200" y="0"/>
                  </a:lnTo>
                  <a:lnTo>
                    <a:pt x="4267200" y="749250"/>
                  </a:lnTo>
                  <a:lnTo>
                    <a:pt x="0" y="749250"/>
                  </a:lnTo>
                  <a:close/>
                </a:path>
              </a:pathLst>
            </a:custGeom>
            <a:solidFill>
              <a:srgbClr val="000000">
                <a:alpha val="0"/>
              </a:srgbClr>
            </a:solidFill>
          </p:spPr>
        </p:sp>
        <p:sp>
          <p:nvSpPr>
            <p:cNvPr id="7" name="TextBox 7"/>
            <p:cNvSpPr txBox="1"/>
            <p:nvPr/>
          </p:nvSpPr>
          <p:spPr>
            <a:xfrm>
              <a:off x="0" y="-19050"/>
              <a:ext cx="4267200" cy="768300"/>
            </a:xfrm>
            <a:prstGeom prst="rect">
              <a:avLst/>
            </a:prstGeom>
          </p:spPr>
          <p:txBody>
            <a:bodyPr lIns="0" tIns="0" rIns="0" bIns="0" rtlCol="0" anchor="ctr"/>
            <a:lstStyle/>
            <a:p>
              <a:pPr algn="r">
                <a:lnSpc>
                  <a:spcPts val="1890"/>
                </a:lnSpc>
              </a:pPr>
              <a:r>
                <a:rPr lang="en-US" sz="1575">
                  <a:solidFill>
                    <a:srgbClr val="888888"/>
                  </a:solidFill>
                  <a:latin typeface="Calibri (MS)" panose="020F0502020204030204"/>
                  <a:ea typeface="Calibri (MS)" panose="020F0502020204030204"/>
                  <a:cs typeface="Calibri (MS)" panose="020F0502020204030204"/>
                  <a:sym typeface="Calibri (MS)" panose="020F0502020204030204"/>
                </a:rPr>
                <a:t>11</a:t>
              </a:r>
            </a:p>
          </p:txBody>
        </p:sp>
      </p:grpSp>
      <p:sp>
        <p:nvSpPr>
          <p:cNvPr id="8" name="Freeform 8"/>
          <p:cNvSpPr/>
          <p:nvPr/>
        </p:nvSpPr>
        <p:spPr>
          <a:xfrm>
            <a:off x="-9525" y="10149893"/>
            <a:ext cx="18336006" cy="146589"/>
          </a:xfrm>
          <a:custGeom>
            <a:avLst/>
            <a:gdLst/>
            <a:ahLst/>
            <a:cxnLst/>
            <a:rect l="l" t="t" r="r" b="b"/>
            <a:pathLst>
              <a:path w="18336006" h="146589">
                <a:moveTo>
                  <a:pt x="0" y="0"/>
                </a:moveTo>
                <a:lnTo>
                  <a:pt x="18336006" y="0"/>
                </a:lnTo>
                <a:lnTo>
                  <a:pt x="18336006" y="146589"/>
                </a:lnTo>
                <a:lnTo>
                  <a:pt x="0" y="146589"/>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9" name="Group 9"/>
          <p:cNvGrpSpPr/>
          <p:nvPr/>
        </p:nvGrpSpPr>
        <p:grpSpPr>
          <a:xfrm>
            <a:off x="1257300" y="9505950"/>
            <a:ext cx="4114800" cy="576263"/>
            <a:chOff x="0" y="0"/>
            <a:chExt cx="5486400" cy="768351"/>
          </a:xfrm>
        </p:grpSpPr>
        <p:sp>
          <p:nvSpPr>
            <p:cNvPr id="10" name="Freeform 10"/>
            <p:cNvSpPr/>
            <p:nvPr/>
          </p:nvSpPr>
          <p:spPr>
            <a:xfrm>
              <a:off x="0" y="0"/>
              <a:ext cx="5486400" cy="768351"/>
            </a:xfrm>
            <a:custGeom>
              <a:avLst/>
              <a:gdLst/>
              <a:ahLst/>
              <a:cxnLst/>
              <a:rect l="l" t="t" r="r" b="b"/>
              <a:pathLst>
                <a:path w="5486400" h="768351">
                  <a:moveTo>
                    <a:pt x="0" y="0"/>
                  </a:moveTo>
                  <a:lnTo>
                    <a:pt x="5486400" y="0"/>
                  </a:lnTo>
                  <a:lnTo>
                    <a:pt x="5486400" y="768351"/>
                  </a:lnTo>
                  <a:lnTo>
                    <a:pt x="0" y="768351"/>
                  </a:lnTo>
                  <a:close/>
                </a:path>
              </a:pathLst>
            </a:custGeom>
            <a:solidFill>
              <a:srgbClr val="000000">
                <a:alpha val="0"/>
              </a:srgbClr>
            </a:solidFill>
          </p:spPr>
        </p:sp>
        <p:sp>
          <p:nvSpPr>
            <p:cNvPr id="11" name="TextBox 11"/>
            <p:cNvSpPr txBox="1"/>
            <p:nvPr/>
          </p:nvSpPr>
          <p:spPr>
            <a:xfrm>
              <a:off x="0" y="-38100"/>
              <a:ext cx="5486400" cy="806451"/>
            </a:xfrm>
            <a:prstGeom prst="rect">
              <a:avLst/>
            </a:prstGeom>
          </p:spPr>
          <p:txBody>
            <a:bodyPr lIns="0" tIns="0" rIns="0" bIns="0" rtlCol="0" anchor="ctr"/>
            <a:lstStyle/>
            <a:p>
              <a:pPr algn="l">
                <a:lnSpc>
                  <a:spcPts val="2160"/>
                </a:lnSpc>
              </a:pPr>
              <a:r>
                <a:rPr lang="en-US" sz="1800">
                  <a:solidFill>
                    <a:srgbClr val="898989"/>
                  </a:solidFill>
                  <a:latin typeface="Calibri (MS)" panose="020F0502020204030204"/>
                  <a:ea typeface="Calibri (MS)" panose="020F0502020204030204"/>
                  <a:cs typeface="Calibri (MS)" panose="020F0502020204030204"/>
                  <a:sym typeface="Calibri (MS)" panose="020F0502020204030204"/>
                </a:rPr>
                <a:t>1/24/2026</a:t>
              </a:r>
            </a:p>
          </p:txBody>
        </p:sp>
      </p:grpSp>
      <p:grpSp>
        <p:nvGrpSpPr>
          <p:cNvPr id="12" name="Group 12"/>
          <p:cNvGrpSpPr/>
          <p:nvPr/>
        </p:nvGrpSpPr>
        <p:grpSpPr>
          <a:xfrm>
            <a:off x="11772900" y="10117531"/>
            <a:ext cx="3200400" cy="561976"/>
            <a:chOff x="0" y="0"/>
            <a:chExt cx="4267200" cy="749301"/>
          </a:xfrm>
        </p:grpSpPr>
        <p:sp>
          <p:nvSpPr>
            <p:cNvPr id="13" name="Freeform 13"/>
            <p:cNvSpPr/>
            <p:nvPr/>
          </p:nvSpPr>
          <p:spPr>
            <a:xfrm>
              <a:off x="0" y="0"/>
              <a:ext cx="4267200" cy="749301"/>
            </a:xfrm>
            <a:custGeom>
              <a:avLst/>
              <a:gdLst/>
              <a:ahLst/>
              <a:cxnLst/>
              <a:rect l="l" t="t" r="r" b="b"/>
              <a:pathLst>
                <a:path w="4267200" h="749301">
                  <a:moveTo>
                    <a:pt x="0" y="0"/>
                  </a:moveTo>
                  <a:lnTo>
                    <a:pt x="4267200" y="0"/>
                  </a:lnTo>
                  <a:lnTo>
                    <a:pt x="4267200" y="749301"/>
                  </a:lnTo>
                  <a:lnTo>
                    <a:pt x="0" y="749301"/>
                  </a:lnTo>
                  <a:close/>
                </a:path>
              </a:pathLst>
            </a:custGeom>
            <a:solidFill>
              <a:srgbClr val="000000">
                <a:alpha val="0"/>
              </a:srgbClr>
            </a:solidFill>
          </p:spPr>
        </p:sp>
        <p:sp>
          <p:nvSpPr>
            <p:cNvPr id="14" name="TextBox 14"/>
            <p:cNvSpPr txBox="1"/>
            <p:nvPr/>
          </p:nvSpPr>
          <p:spPr>
            <a:xfrm>
              <a:off x="0" y="-19050"/>
              <a:ext cx="4267200" cy="768351"/>
            </a:xfrm>
            <a:prstGeom prst="rect">
              <a:avLst/>
            </a:prstGeom>
          </p:spPr>
          <p:txBody>
            <a:bodyPr lIns="0" tIns="0" rIns="0" bIns="0" rtlCol="0" anchor="ctr"/>
            <a:lstStyle/>
            <a:p>
              <a:pPr algn="r">
                <a:lnSpc>
                  <a:spcPts val="1890"/>
                </a:lnSpc>
              </a:pPr>
              <a:r>
                <a:rPr lang="en-US" sz="1575">
                  <a:solidFill>
                    <a:srgbClr val="888888"/>
                  </a:solidFill>
                  <a:latin typeface="Calibri (MS)" panose="020F0502020204030204"/>
                  <a:ea typeface="Calibri (MS)" panose="020F0502020204030204"/>
                  <a:cs typeface="Calibri (MS)" panose="020F0502020204030204"/>
                  <a:sym typeface="Calibri (MS)" panose="020F0502020204030204"/>
                </a:rPr>
                <a:t>2</a:t>
              </a:r>
            </a:p>
          </p:txBody>
        </p:sp>
      </p:grpSp>
      <p:grpSp>
        <p:nvGrpSpPr>
          <p:cNvPr id="15" name="Group 15"/>
          <p:cNvGrpSpPr/>
          <p:nvPr/>
        </p:nvGrpSpPr>
        <p:grpSpPr>
          <a:xfrm>
            <a:off x="-76962" y="-38100"/>
            <a:ext cx="18488728" cy="1966385"/>
            <a:chOff x="0" y="0"/>
            <a:chExt cx="24651637" cy="2621846"/>
          </a:xfrm>
        </p:grpSpPr>
        <p:sp>
          <p:nvSpPr>
            <p:cNvPr id="16" name="Freeform 16"/>
            <p:cNvSpPr/>
            <p:nvPr/>
          </p:nvSpPr>
          <p:spPr>
            <a:xfrm>
              <a:off x="0" y="0"/>
              <a:ext cx="24651637" cy="2491235"/>
            </a:xfrm>
            <a:custGeom>
              <a:avLst/>
              <a:gdLst/>
              <a:ahLst/>
              <a:cxnLst/>
              <a:rect l="l" t="t" r="r" b="b"/>
              <a:pathLst>
                <a:path w="24651637" h="2491235">
                  <a:moveTo>
                    <a:pt x="0" y="0"/>
                  </a:moveTo>
                  <a:lnTo>
                    <a:pt x="24651637" y="0"/>
                  </a:lnTo>
                  <a:lnTo>
                    <a:pt x="24651637" y="2491235"/>
                  </a:lnTo>
                  <a:lnTo>
                    <a:pt x="0" y="2491235"/>
                  </a:lnTo>
                  <a:lnTo>
                    <a:pt x="0" y="0"/>
                  </a:lnTo>
                  <a:close/>
                </a:path>
              </a:pathLst>
            </a:custGeom>
            <a:blipFill>
              <a:blip r:embed="rId4"/>
              <a:stretch>
                <a:fillRect t="-442" b="-442"/>
              </a:stretch>
            </a:blipFill>
          </p:spPr>
        </p:sp>
        <p:sp>
          <p:nvSpPr>
            <p:cNvPr id="17" name="Freeform 17"/>
            <p:cNvSpPr/>
            <p:nvPr/>
          </p:nvSpPr>
          <p:spPr>
            <a:xfrm>
              <a:off x="20688757" y="0"/>
              <a:ext cx="3962880" cy="2621846"/>
            </a:xfrm>
            <a:custGeom>
              <a:avLst/>
              <a:gdLst/>
              <a:ahLst/>
              <a:cxnLst/>
              <a:rect l="l" t="t" r="r" b="b"/>
              <a:pathLst>
                <a:path w="3962880" h="2621846">
                  <a:moveTo>
                    <a:pt x="0" y="0"/>
                  </a:moveTo>
                  <a:lnTo>
                    <a:pt x="3962880" y="0"/>
                  </a:lnTo>
                  <a:lnTo>
                    <a:pt x="3962880" y="2621846"/>
                  </a:lnTo>
                  <a:lnTo>
                    <a:pt x="0" y="2621846"/>
                  </a:lnTo>
                  <a:lnTo>
                    <a:pt x="0" y="0"/>
                  </a:lnTo>
                  <a:close/>
                </a:path>
              </a:pathLst>
            </a:custGeom>
            <a:blipFill>
              <a:blip r:embed="rId5"/>
              <a:stretch>
                <a:fillRect t="-442" b="-442"/>
              </a:stretch>
            </a:blipFill>
          </p:spPr>
        </p:sp>
      </p:grpSp>
      <p:grpSp>
        <p:nvGrpSpPr>
          <p:cNvPr id="18" name="Group 18"/>
          <p:cNvGrpSpPr/>
          <p:nvPr/>
        </p:nvGrpSpPr>
        <p:grpSpPr>
          <a:xfrm>
            <a:off x="11753850" y="355898"/>
            <a:ext cx="2900669" cy="545721"/>
            <a:chOff x="0" y="0"/>
            <a:chExt cx="3867559" cy="727628"/>
          </a:xfrm>
        </p:grpSpPr>
        <p:grpSp>
          <p:nvGrpSpPr>
            <p:cNvPr id="19" name="Group 19"/>
            <p:cNvGrpSpPr/>
            <p:nvPr/>
          </p:nvGrpSpPr>
          <p:grpSpPr>
            <a:xfrm>
              <a:off x="2250130" y="395892"/>
              <a:ext cx="74116" cy="74116"/>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cap="sq">
                <a:noFill/>
                <a:prstDash val="solid"/>
                <a:miter/>
              </a:ln>
            </p:spPr>
          </p:sp>
          <p:sp>
            <p:nvSpPr>
              <p:cNvPr id="21" name="TextBox 21"/>
              <p:cNvSpPr txBox="1"/>
              <p:nvPr/>
            </p:nvSpPr>
            <p:spPr>
              <a:xfrm>
                <a:off x="76200" y="66675"/>
                <a:ext cx="660400" cy="669925"/>
              </a:xfrm>
              <a:prstGeom prst="rect">
                <a:avLst/>
              </a:prstGeom>
            </p:spPr>
            <p:txBody>
              <a:bodyPr lIns="8444" tIns="8444" rIns="8444" bIns="8444" rtlCol="0" anchor="ctr"/>
              <a:lstStyle/>
              <a:p>
                <a:pPr algn="ctr">
                  <a:lnSpc>
                    <a:spcPts val="650"/>
                  </a:lnSpc>
                </a:pPr>
                <a:endParaRPr/>
              </a:p>
            </p:txBody>
          </p:sp>
        </p:grpSp>
        <p:sp>
          <p:nvSpPr>
            <p:cNvPr id="22" name="TextBox 22"/>
            <p:cNvSpPr txBox="1"/>
            <p:nvPr/>
          </p:nvSpPr>
          <p:spPr>
            <a:xfrm>
              <a:off x="399300" y="-66675"/>
              <a:ext cx="2492296" cy="794303"/>
            </a:xfrm>
            <a:prstGeom prst="rect">
              <a:avLst/>
            </a:prstGeom>
          </p:spPr>
          <p:txBody>
            <a:bodyPr lIns="0" tIns="0" rIns="0" bIns="0" rtlCol="0" anchor="t">
              <a:spAutoFit/>
            </a:bodyPr>
            <a:lstStyle/>
            <a:p>
              <a:pPr algn="l">
                <a:lnSpc>
                  <a:spcPts val="5025"/>
                </a:lnSpc>
              </a:pPr>
              <a:r>
                <a:rPr lang="en-US" sz="3590" b="1">
                  <a:solidFill>
                    <a:srgbClr val="000000"/>
                  </a:solidFill>
                  <a:latin typeface="Garet Bold"/>
                  <a:ea typeface="Garet Bold"/>
                  <a:cs typeface="Garet Bold"/>
                  <a:sym typeface="Garet Bold"/>
                </a:rPr>
                <a:t>Echel  n</a:t>
              </a:r>
            </a:p>
          </p:txBody>
        </p:sp>
        <p:sp>
          <p:nvSpPr>
            <p:cNvPr id="23" name="TextBox 23"/>
            <p:cNvSpPr txBox="1"/>
            <p:nvPr/>
          </p:nvSpPr>
          <p:spPr>
            <a:xfrm>
              <a:off x="2891596" y="-66675"/>
              <a:ext cx="975963" cy="785631"/>
            </a:xfrm>
            <a:prstGeom prst="rect">
              <a:avLst/>
            </a:prstGeom>
          </p:spPr>
          <p:txBody>
            <a:bodyPr lIns="0" tIns="0" rIns="0" bIns="0" rtlCol="0" anchor="t">
              <a:spAutoFit/>
            </a:bodyPr>
            <a:lstStyle/>
            <a:p>
              <a:pPr algn="l">
                <a:lnSpc>
                  <a:spcPts val="4965"/>
                </a:lnSpc>
              </a:pPr>
              <a:r>
                <a:rPr lang="en-US" sz="3545" b="1">
                  <a:solidFill>
                    <a:srgbClr val="000000"/>
                  </a:solidFill>
                  <a:latin typeface="Garet Bold"/>
                  <a:ea typeface="Garet Bold"/>
                  <a:cs typeface="Garet Bold"/>
                  <a:sym typeface="Garet Bold"/>
                </a:rPr>
                <a:t>2.0</a:t>
              </a:r>
            </a:p>
          </p:txBody>
        </p:sp>
        <p:sp>
          <p:nvSpPr>
            <p:cNvPr id="24" name="Freeform 24"/>
            <p:cNvSpPr/>
            <p:nvPr/>
          </p:nvSpPr>
          <p:spPr>
            <a:xfrm rot="1652127">
              <a:off x="2141306" y="287067"/>
              <a:ext cx="291765" cy="291765"/>
            </a:xfrm>
            <a:custGeom>
              <a:avLst/>
              <a:gdLst/>
              <a:ahLst/>
              <a:cxnLst/>
              <a:rect l="l" t="t" r="r" b="b"/>
              <a:pathLst>
                <a:path w="291765" h="291765">
                  <a:moveTo>
                    <a:pt x="0" y="0"/>
                  </a:moveTo>
                  <a:lnTo>
                    <a:pt x="291765" y="0"/>
                  </a:lnTo>
                  <a:lnTo>
                    <a:pt x="291765" y="291766"/>
                  </a:lnTo>
                  <a:lnTo>
                    <a:pt x="0" y="291766"/>
                  </a:lnTo>
                  <a:lnTo>
                    <a:pt x="0" y="0"/>
                  </a:lnTo>
                  <a:close/>
                </a:path>
              </a:pathLst>
            </a:custGeom>
            <a:blipFill>
              <a:blip r:embed="rId6" cstate="print">
                <a:extLst>
                  <a:ext uri="{96DAC541-7B7A-43D3-8B79-37D633B846F1}">
                    <asvg:svgBlip xmlns:asvg="http://schemas.microsoft.com/office/drawing/2016/SVG/main" xmlns="" r:embed="rId7"/>
                  </a:ext>
                </a:extLst>
              </a:blip>
              <a:stretch>
                <a:fillRect/>
              </a:stretch>
            </a:blipFill>
          </p:spPr>
        </p:sp>
        <p:sp>
          <p:nvSpPr>
            <p:cNvPr id="25" name="Freeform 25"/>
            <p:cNvSpPr/>
            <p:nvPr/>
          </p:nvSpPr>
          <p:spPr>
            <a:xfrm>
              <a:off x="0" y="150966"/>
              <a:ext cx="399300" cy="417024"/>
            </a:xfrm>
            <a:custGeom>
              <a:avLst/>
              <a:gdLst/>
              <a:ahLst/>
              <a:cxnLst/>
              <a:rect l="l" t="t" r="r" b="b"/>
              <a:pathLst>
                <a:path w="399300" h="417024">
                  <a:moveTo>
                    <a:pt x="0" y="0"/>
                  </a:moveTo>
                  <a:lnTo>
                    <a:pt x="399300" y="0"/>
                  </a:lnTo>
                  <a:lnTo>
                    <a:pt x="399300" y="417024"/>
                  </a:lnTo>
                  <a:lnTo>
                    <a:pt x="0" y="417024"/>
                  </a:lnTo>
                  <a:lnTo>
                    <a:pt x="0" y="0"/>
                  </a:lnTo>
                  <a:close/>
                </a:path>
              </a:pathLst>
            </a:custGeom>
            <a:blipFill>
              <a:blip r:embed="rId8" cstate="print">
                <a:extLst>
                  <a:ext uri="{96DAC541-7B7A-43D3-8B79-37D633B846F1}">
                    <asvg:svgBlip xmlns:asvg="http://schemas.microsoft.com/office/drawing/2016/SVG/main" xmlns="" r:embed="rId9"/>
                  </a:ext>
                </a:extLst>
              </a:blip>
              <a:stretch>
                <a:fillRect/>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170</TotalTime>
  <Words>332</Words>
  <Application>Microsoft Office PowerPoint</Application>
  <PresentationFormat>Custom</PresentationFormat>
  <Paragraphs>94</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Times New Roman</vt:lpstr>
      <vt:lpstr>Calibri (MS)</vt:lpstr>
      <vt:lpstr>Garet Bold</vt:lpstr>
      <vt:lpstr>Calibri (MS) Bold</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A266_MBA Tech. (Computer) Semester III Course Community Services Academic Year 2024-25.pptx</dc:title>
  <dc:creator>Harshita Chandola</dc:creator>
  <cp:lastModifiedBy>Admin</cp:lastModifiedBy>
  <cp:revision>8</cp:revision>
  <dcterms:created xsi:type="dcterms:W3CDTF">2006-08-16T00:00:00Z</dcterms:created>
  <dcterms:modified xsi:type="dcterms:W3CDTF">2026-05-14T09:53:20Z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492D8E4C6A4E46F4A00A61A33BF39D42_12</vt:lpwstr>
  </property>
  <property fmtid="{D5CDD505-2E9C-101B-9397-08002B2CF9AE}" pid="3" name="KSOProductBuildVer">
    <vt:lpwstr>1033-12.2.0.23196</vt:lpwstr>
  </property>
</Properties>
</file>